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0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2743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Helios-Artemis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Dual-MCU Predictive MPPT Controller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Simulation-Based Validation for Sylhet Monsoon SHS Deployment · Bangladesh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907792"/>
            <a:ext cx="8046720" cy="27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0540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Hussain Touhid Siddiquee  ·  Dept. of EEE, Leading University Sylhet  · 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920240" cy="1234440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Efficiency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34640" y="3566160"/>
            <a:ext cx="1920240" cy="1234440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26080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+23.3 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 P&amp;O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3566160"/>
            <a:ext cx="1920240" cy="1234440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0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BDT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0880" y="3566160"/>
            <a:ext cx="1920240" cy="1234440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0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Commercial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CONTEXT &amp;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Monsoon Yield Gap in Bangladesh Solar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IDCOL SHS Programme — 6 million rural households affected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IDCOL Solar Home System programme </a:t>
            </a:r>
            <a:r>
              <a:rPr lang="en-US" sz="1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electrified 6M+ rural households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world's largest off-grid solar programme. Yet </a:t>
            </a: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efficiency is the #1 cause of yield shortfall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monsoon season (June–September).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92024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" cy="9144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" y="2221992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98648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IDCOL SHS programme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192024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3145536"/>
            <a:ext cx="5029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" y="3218688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" y="3666744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monsoon efficiency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89534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single-day P&amp;O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1920240" cy="82296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" y="4142232"/>
            <a:ext cx="50292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" y="4215384"/>
            <a:ext cx="1755648" cy="4279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−15.1pp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" y="4611319"/>
            <a:ext cx="175564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shortfall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817059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clear-sky 86.8%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2148840"/>
            <a:ext cx="6309360" cy="283464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468880" y="2148840"/>
            <a:ext cx="6309360" cy="3657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06040" y="223113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P&amp;O Fails in Monsoon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2651760"/>
            <a:ext cx="457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61488" y="2642616"/>
            <a:ext cx="5870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paradigm:</a:t>
            </a:r>
            <a:r>
              <a:rPr lang="en-US" sz="11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P&amp;O only responds AFTER irradiance has changed — always one step behind.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3172968"/>
            <a:ext cx="457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761488" y="3163824"/>
            <a:ext cx="5870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transients:</a:t>
            </a:r>
            <a:r>
              <a:rPr lang="en-US" sz="11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Sylhet monsoon brings sub-second irradiance swings up to ±25% (σ = 25%, Ornstein-Uhlenbeck calibrated).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3694176"/>
            <a:ext cx="457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61488" y="3685032"/>
            <a:ext cx="5870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mismatch:</a:t>
            </a:r>
            <a:r>
              <a:rPr lang="en-US" sz="11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 cloud shadow arrives mid-perturbation, the controller steps the wrong direction, wasting energy during recovery.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4215384"/>
            <a:ext cx="457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761488" y="4206240"/>
            <a:ext cx="5870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loss:</a:t>
            </a:r>
            <a:r>
              <a:rPr lang="en-US" sz="11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15.1 percentage-point drop = significant annual kWh loss across 6M homes and accelerated battery wear.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Dual-MCU Architecture: Helios + Artemis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decoupling of AI inference from real-time power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3657600" cy="3246120"/>
          </a:xfrm>
          <a:prstGeom prst="rect">
            <a:avLst/>
          </a:prstGeom>
          <a:solidFill>
            <a:srgbClr val="EBF7F7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3657600" cy="42062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992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17099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 (ESP32-S3)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3474720" cy="402336"/>
          </a:xfrm>
          <a:prstGeom prst="rect">
            <a:avLst/>
          </a:prstGeom>
          <a:solidFill>
            <a:srgbClr val="DDEEF5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66928" y="22128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dual-core, 512 kB SRAM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" y="23865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Brain: Edge AI processor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633472"/>
            <a:ext cx="3474720" cy="402336"/>
          </a:xfrm>
          <a:prstGeom prst="rect">
            <a:avLst/>
          </a:prstGeom>
          <a:solidFill>
            <a:srgbClr val="EBF7F7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66928" y="26700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inference &lt; 12 ms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28437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32-unit model, 4,486 params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090672"/>
            <a:ext cx="3474720" cy="402336"/>
          </a:xfrm>
          <a:prstGeom prst="rect">
            <a:avLst/>
          </a:prstGeom>
          <a:solidFill>
            <a:srgbClr val="DDEEF5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66928" y="31272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TSL2591 light sensor + OV2640 camera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33009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condition input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547872"/>
            <a:ext cx="3474720" cy="402336"/>
          </a:xfrm>
          <a:prstGeom prst="rect">
            <a:avLst/>
          </a:prstGeom>
          <a:solidFill>
            <a:srgbClr val="EBF7F7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66928" y="35844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UART → sends V_MPP_pred to Artemis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7581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bridge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005072"/>
            <a:ext cx="3474720" cy="402336"/>
          </a:xfrm>
          <a:prstGeom prst="rect">
            <a:avLst/>
          </a:prstGeom>
          <a:solidFill>
            <a:srgbClr val="DDEEF5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66928" y="40416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TF.js on-device retraining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42153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silent cycles, zero cloud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4462272"/>
            <a:ext cx="3474720" cy="402336"/>
          </a:xfrm>
          <a:prstGeom prst="rect">
            <a:avLst/>
          </a:prstGeom>
          <a:solidFill>
            <a:srgbClr val="EBF7F7"/>
          </a:solidFill>
          <a:ln w="12700">
            <a:solidFill>
              <a:srgbClr val="C5DDE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66928" y="44988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logging + browser dashboard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6928" y="46725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data capture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60520" y="3127248"/>
            <a:ext cx="82296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892040" y="3035808"/>
            <a:ext cx="54864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133088" y="32369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UART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33088" y="29443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120640" y="1664208"/>
            <a:ext cx="3657600" cy="3246120"/>
          </a:xfrm>
          <a:prstGeom prst="rect">
            <a:avLst/>
          </a:prstGeom>
          <a:solidFill>
            <a:srgbClr val="EFF5EB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5120640" y="1664208"/>
            <a:ext cx="3657600" cy="420624"/>
          </a:xfrm>
          <a:prstGeom prst="rect">
            <a:avLst/>
          </a:prstGeom>
          <a:solidFill>
            <a:srgbClr val="157A45"/>
          </a:solidFill>
          <a:ln w="12700">
            <a:solidFill>
              <a:srgbClr val="157A45"/>
            </a:solidFill>
            <a:prstDash val="solid"/>
          </a:ln>
        </p:spPr>
        <p:txBody>
          <a:bodyPr/>
          <a:p/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09928"/>
            <a:ext cx="310896" cy="31089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14416" y="17099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 (STM32F103)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212080" y="2176272"/>
            <a:ext cx="3474720" cy="402336"/>
          </a:xfrm>
          <a:prstGeom prst="rect">
            <a:avLst/>
          </a:prstGeom>
          <a:solidFill>
            <a:srgbClr val="D8EDD5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5321808" y="22128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MHz Cortex-M3, 20 kB SRAM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321808" y="23865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Muscle: Real-time power controller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212080" y="2633472"/>
            <a:ext cx="3474720" cy="402336"/>
          </a:xfrm>
          <a:prstGeom prst="rect">
            <a:avLst/>
          </a:prstGeom>
          <a:solidFill>
            <a:srgbClr val="EFF5EB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5321808" y="26700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kHz PWM — IRFB4110 via TC4420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321808" y="28437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 switching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5212080" y="3090672"/>
            <a:ext cx="3474720" cy="402336"/>
          </a:xfrm>
          <a:prstGeom prst="rect">
            <a:avLst/>
          </a:prstGeom>
          <a:solidFill>
            <a:srgbClr val="D8EDD5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5321808" y="31272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Variable-step P&amp;O every 100 ms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321808" y="33009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algorithm (reactive)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5212080" y="3547872"/>
            <a:ext cx="3474720" cy="402336"/>
          </a:xfrm>
          <a:prstGeom prst="rect">
            <a:avLst/>
          </a:prstGeom>
          <a:solidFill>
            <a:srgbClr val="EFF5EB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5321808" y="35844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 = (1−α)·V_P&amp;O + α·V_pred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321808" y="37581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blend formula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5212080" y="4005072"/>
            <a:ext cx="3474720" cy="402336"/>
          </a:xfrm>
          <a:prstGeom prst="rect">
            <a:avLst/>
          </a:prstGeom>
          <a:solidFill>
            <a:srgbClr val="D8EDD5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5321808" y="40416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12-bit I²C, 0.1Ω shunt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321808" y="42153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current/voltage monitor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212080" y="4462272"/>
            <a:ext cx="3474720" cy="402336"/>
          </a:xfrm>
          <a:prstGeom prst="rect">
            <a:avLst/>
          </a:prstGeom>
          <a:solidFill>
            <a:srgbClr val="EFF5EB"/>
          </a:solidFill>
          <a:ln w="12700">
            <a:solidFill>
              <a:srgbClr val="BDDAB8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5321808" y="4498848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CC/CV charging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5321808" y="4672584"/>
            <a:ext cx="3273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6A → Absorb 14.7V → Float 13.8V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ARTEMIS — POWER STAGE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Variable-Step P&amp;O and Buck Converter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 real-time control — 50 kHz switching, adaptive step sizing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465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Variable-Step P&amp;O Algorithm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1214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law: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21214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clip(0.008 · |dP/dV|,  0.05, 0.60) 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397764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5973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convergence: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24597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steps to 94% of MPP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79806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oscillation: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93392" y="27980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step floors at 50 mV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397764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31363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blend: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93392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 = (1−α)·V_P&amp;O + α·V_MPP,pred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474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deadband: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93392" y="3474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|Ĝ−G|/G &gt; 15% — suppresses spurious blends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397764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38130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Cloud-clearing α: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93392" y="3813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0.45·exp(−1.5·rel_dev)  [higher trust]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41513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Cloud-drop α: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93392" y="415137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0.08·exp(−1.0·rel_dev)  [conservative]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471416"/>
            <a:ext cx="397764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44897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Post-blend cooldown: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93392" y="44897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steps before next blend event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664208"/>
            <a:ext cx="406908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709160" y="1664208"/>
            <a:ext cx="4069080" cy="36576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46320" y="17465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 &amp; Battery Charging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2103120"/>
            <a:ext cx="3886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92040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08192" y="2121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IRFB4110 — VDS 60V, RDS(on) 28 mΩ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441448"/>
            <a:ext cx="388620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892040" y="24597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Driver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2459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TC4420 — 50 kHz PWM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2779776"/>
            <a:ext cx="3886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892040" y="27980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08192" y="27980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μH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118104"/>
            <a:ext cx="388620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92040" y="3136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08192" y="3136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 μF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3456432"/>
            <a:ext cx="3886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892040" y="3474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08192" y="3474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— 12-bit, I²C, 0.1Ω shunt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3794760"/>
            <a:ext cx="388620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892040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08192" y="3813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σ_I = 2 mA, σ_V = 10 mV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46320" y="41605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CC/CV Charging Profile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800600" y="4462272"/>
            <a:ext cx="1261872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800600" y="447141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00600" y="463600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  until 14.7 V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99048" y="4462272"/>
            <a:ext cx="1261872" cy="38404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099048" y="447141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99048" y="463600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 V  until I &lt; 0.5 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97496" y="4462272"/>
            <a:ext cx="1261872" cy="384048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397496" y="4471416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397496" y="4636008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V  maintenance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HELIOS — LSTM AI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Dual-LSTM Architecture on ESP32-S3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Irradiance forecaster + gain scheduler — TinyML for edge deployment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465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Specifications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3840480" cy="1298448"/>
          </a:xfrm>
          <a:prstGeom prst="rect">
            <a:avLst/>
          </a:prstGeom>
          <a:solidFill>
            <a:srgbClr val="D5EEF5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Irradiance Forecaster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24688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LSTM units, 1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4261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264261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normalised GHI lookback (288 steps × 5-min)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8163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ahead GHI prediction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99008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29900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1638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3163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ms float32 on ESP32-S3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3840480" cy="987552"/>
          </a:xfrm>
          <a:prstGeom prst="rect">
            <a:avLst/>
          </a:prstGeom>
          <a:solidFill>
            <a:srgbClr val="FDEBD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" y="3547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Gain Scheduler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3840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LSTM units, 1 layer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01421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81328" y="401421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P&amp;O step scaling factor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1879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41879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 (total dual-model: 4,486)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664208"/>
            <a:ext cx="406908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09160" y="1664208"/>
            <a:ext cx="40690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46320" y="17465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Deployment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2121408"/>
            <a:ext cx="3794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46320" y="2121408"/>
            <a:ext cx="45720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74336" y="21579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74336" y="23774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independent test set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670048"/>
            <a:ext cx="3794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846320" y="2670048"/>
            <a:ext cx="4572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74336" y="27066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50.7 W/m²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74336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forecast error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218688"/>
            <a:ext cx="3794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846320" y="3218688"/>
            <a:ext cx="4572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974336" y="32552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63.6 W/m²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74336" y="34747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794760"/>
            <a:ext cx="379476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956048" y="3840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bias μ = +2.3 W/m² —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positive bias means no systematic under-prediction → voltage reference never under-positioned.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4306824"/>
            <a:ext cx="379476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56048" y="43525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Quantisation Option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56048" y="45354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ms vs 12 ms float32 — ΔR² = −0.009. Float32 retained to preserve fidelity within 100 ms UART budget.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SIMULATION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Sylhet Markov+OU Irradiance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physical realism layers — parameterised from NASA POWER &amp; SREDA data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14800" cy="162763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148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1051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79222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Sub-Second OU Flicker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21945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Ornstein-Uhlenbeck process: τ = 1s, σ = 25%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Lave &amp; Kleissl (2010) Colorado dataset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rapid cloud-edge irradiance fluctuations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modelled GHI: 744 W/m² (July, aerosol-capped)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664208"/>
            <a:ext cx="4114800" cy="162763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754880" y="1664208"/>
            <a:ext cx="4114800" cy="41148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81051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79222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Aerosol / Haze Attenuation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19472" y="21945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 turbidity TL ≈ 4.5 (tropical humid)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factor ×0.93 on clear-sky GHI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Sylhet seasonal haze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clear-sky peak from 800 to ~744 W/m²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383280"/>
            <a:ext cx="4114800" cy="162763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65760" y="3383280"/>
            <a:ext cx="4114800" cy="4114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295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51129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ADC Sensor Noise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30352" y="39136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current noise: σ_I = 2 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noise: σ_V = 10 mV (incl. switching EMI)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measurement inputs, not true MPP signal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MPPT robustness under realistic conditions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383280"/>
            <a:ext cx="4114800" cy="162763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754880" y="3383280"/>
            <a:ext cx="4114800" cy="41148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5295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351129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Panel Soiling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919472" y="39136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reduction on Isc (short-circuit current)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cleaning cycle modelled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realistic rural deployment maintenance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cumulative efficiency effect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760" y="4686300"/>
            <a:ext cx="8394192" cy="3429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502920" y="4645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Monthly Parameters  (NASA POWER + SREDA)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SIMULATION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Monthly Irradiance Parameters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from NASA POWER Level 3 data + SREDA Bangladesh Solar Atlas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719072"/>
            <a:ext cx="201168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755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23160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7288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93008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17136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62856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86984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32704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56832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2552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26680" y="1719072"/>
            <a:ext cx="1069848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0" y="175564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3969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2176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GHI (W/m²)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77440" y="2139696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23160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7288" y="2139696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93008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17136" y="2139696"/>
            <a:ext cx="1069848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62856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86984" y="2139696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32704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56832" y="2139696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02552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26680" y="2139696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72400" y="217627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560320"/>
            <a:ext cx="201168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11480" y="25968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Variability Index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77440" y="2560320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423160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47288" y="2560320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93008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17136" y="2560320"/>
            <a:ext cx="1069848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62856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86984" y="2560320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32704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56832" y="2560320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02552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26680" y="2560320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772400" y="259689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298094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1148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(hh:mm)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377440" y="2980944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423160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06:18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47288" y="2980944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93008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17136" y="2980944"/>
            <a:ext cx="1069848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562856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05:18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86984" y="2980944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632704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05:48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56832" y="2980944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702552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726680" y="2980944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772400" y="30175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06:24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3401568"/>
            <a:ext cx="201168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11480" y="34381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(hh:mm)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377440" y="3401568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423160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17:24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447288" y="3401568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493008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18:36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517136" y="3401568"/>
            <a:ext cx="1069848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562856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19:06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86984" y="3401568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632704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18:12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56832" y="3401568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702552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17:36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726680" y="3401568"/>
            <a:ext cx="1069848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772400" y="343814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17:06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65760" y="38221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411480" y="3858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Hours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377440" y="3822192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423160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447288" y="3822192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493008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517136" y="3822192"/>
            <a:ext cx="1069848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562856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586984" y="3822192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632704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656832" y="3822192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702552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726680" y="3822192"/>
            <a:ext cx="1069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7772400" y="385876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65760" y="3895344"/>
            <a:ext cx="8412480" cy="713232"/>
          </a:xfrm>
          <a:prstGeom prst="rect">
            <a:avLst/>
          </a:prstGeom>
          <a:solidFill>
            <a:srgbClr val="FFF8E7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pic>
        <p:nvPicPr>
          <p:cNvPr id="9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05072"/>
            <a:ext cx="274320" cy="274320"/>
          </a:xfrm>
          <a:prstGeom prst="rect">
            <a:avLst/>
          </a:prstGeom>
        </p:spPr>
      </p:pic>
      <p:sp>
        <p:nvSpPr>
          <p:cNvPr id="93" name="Text 90"/>
          <p:cNvSpPr/>
          <p:nvPr/>
        </p:nvSpPr>
        <p:spPr>
          <a:xfrm>
            <a:off x="868680" y="3959352"/>
            <a:ext cx="7818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most challenging month: </a:t>
            </a:r>
            <a:r>
              <a:rPr lang="en-US" sz="10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Variability Index (CVI) = 0.85 — highest cloud transient frequency. Peak GHI drops to 580 W/m² (vs 880 W/m² in April) due to cloud cover AND aerosol loading. This is where the 23.3 pp efficiency gain of Helios-Artemis over plain P&amp;O is most pronounced.</a:t>
            </a:r>
            <a:endParaRPr lang="en-US" sz="1050" dirty="0"/>
          </a:p>
        </p:txBody>
      </p:sp>
      <p:sp>
        <p:nvSpPr>
          <p:cNvPr id="94" name="Text 91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Model: Exact analytical MPP solution  Vmp_c = Voc_T · (1/(1+k))^(1/k)  ensures Ppv/Pm ≈ 1.00 at perfect tracking.  50 Wp mono-Si: Isc₀=2.91A post-soiling, k=14.26.</a:t>
            </a:r>
            <a:endParaRPr lang="en-US" sz="950" dirty="0"/>
          </a:p>
        </p:txBody>
      </p:sp>
      <p:sp>
        <p:nvSpPr>
          <p:cNvPr id="95" name="Text 92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 — LSTM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Predictor: Year-2 Independent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Year-1; evaluated on Year-2 with distinct random seed — no data leakage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2679192" cy="987552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50292" cy="9875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" y="1737360"/>
            <a:ext cx="2514600" cy="5135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27113"/>
            <a:ext cx="251460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74001"/>
            <a:ext cx="2514600" cy="197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test set (365 days)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664208"/>
            <a:ext cx="2679192" cy="987552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27832" y="1664208"/>
            <a:ext cx="50292" cy="9875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514600" cy="5135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 W/m²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227113"/>
            <a:ext cx="251460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MAE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474001"/>
            <a:ext cx="2514600" cy="197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1664208"/>
            <a:ext cx="2679192" cy="987552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89904" y="1664208"/>
            <a:ext cx="50292" cy="987552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99632" y="1737360"/>
            <a:ext cx="2514600" cy="51352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 W/m²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9632" y="2227113"/>
            <a:ext cx="251460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2474001"/>
            <a:ext cx="2514600" cy="197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positive — no under-prediction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4937760" cy="2121408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2834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Architecture Ablation Study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" y="3172968"/>
            <a:ext cx="1481328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5488" y="3191256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172968"/>
            <a:ext cx="502920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956816" y="3191256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23160" y="3172968"/>
            <a:ext cx="749808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459736" y="31912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(W/m²)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72968" y="3172968"/>
            <a:ext cx="777240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09544" y="3191256"/>
            <a:ext cx="704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(W/m²)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50208" y="3172968"/>
            <a:ext cx="640080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986784" y="3191256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90288" y="3172968"/>
            <a:ext cx="640080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26864" y="3191256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" y="3575304"/>
            <a:ext cx="1481328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5488" y="3593592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units, 1 layer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3575304"/>
            <a:ext cx="50292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56816" y="3593592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3575304"/>
            <a:ext cx="749808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459736" y="359359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72968" y="3575304"/>
            <a:ext cx="77724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09544" y="3593592"/>
            <a:ext cx="704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50208" y="3575304"/>
            <a:ext cx="64008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986784" y="359359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90288" y="3575304"/>
            <a:ext cx="64008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626864" y="3593592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8912" y="3977640"/>
            <a:ext cx="1481328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75488" y="399592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units, 1 layer 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20240" y="3977640"/>
            <a:ext cx="502920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56816" y="3995928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23160" y="3977640"/>
            <a:ext cx="749808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459736" y="3995928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72968" y="3977640"/>
            <a:ext cx="777240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209544" y="3995928"/>
            <a:ext cx="704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50208" y="3977640"/>
            <a:ext cx="640080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986784" y="399592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90288" y="3977640"/>
            <a:ext cx="640080" cy="365760"/>
          </a:xfrm>
          <a:prstGeom prst="rect">
            <a:avLst/>
          </a:prstGeom>
          <a:solidFill>
            <a:srgbClr val="D5EEF5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626864" y="399592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8912" y="4379976"/>
            <a:ext cx="1481328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75488" y="4398264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units, 1 layer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920240" y="4379976"/>
            <a:ext cx="50292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956816" y="4398264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23160" y="4379976"/>
            <a:ext cx="749808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459736" y="4398264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172968" y="4379976"/>
            <a:ext cx="77724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209544" y="4398264"/>
            <a:ext cx="704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950208" y="4379976"/>
            <a:ext cx="64008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986784" y="43982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 ms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90288" y="4379976"/>
            <a:ext cx="640080" cy="36576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626864" y="4398264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22,849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2920" y="46817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— optimal Pareto point: best R² within 12 ms inference budget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86400" y="2788920"/>
            <a:ext cx="3291840" cy="2121408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2356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Sensitivity Analysis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5596128" y="3200400"/>
            <a:ext cx="30723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5596128" y="3200400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705856" y="32186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&lt; 0.20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705856" y="34015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Under-blend zone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48272" y="32186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under-weighted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0.8–2.5 pp gain only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96128" y="3730752"/>
            <a:ext cx="30723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5596128" y="3730752"/>
            <a:ext cx="54864" cy="475488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705856" y="3749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0.20–0.55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705856" y="3931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plateau ✓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48272" y="3749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operation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5.5–6.2 pp clear, 23.6–24.4 pp monsoon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596128" y="4261104"/>
            <a:ext cx="30723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5596128" y="4261104"/>
            <a:ext cx="54864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705856" y="4279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&gt; 0.60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5705856" y="44622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Over-blend zone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748272" y="42793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errors dominate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falls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596128" y="466344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α = 0.35  ·  Plateau Δα = 0.35  ·  Robust to ±50% variation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 — MPPT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Tracking Efficiency: Full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N=30 — Sylhet parameterised conditions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201168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50292" cy="9144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" y="173736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1854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efficiency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Monte Carlo mean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664208"/>
            <a:ext cx="201168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50292" cy="914400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51760" y="173736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21854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4140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across 30 July days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1664208"/>
            <a:ext cx="201168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18304" y="1664208"/>
            <a:ext cx="50292" cy="914400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28032" y="173736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+23.3pp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28032" y="21854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P&amp;O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4140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→ 94.0%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94576" y="1664208"/>
            <a:ext cx="2011680" cy="91440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94576" y="1664208"/>
            <a:ext cx="50292" cy="9144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04304" y="173736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04304" y="21854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24140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seasons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0197" y="2578608"/>
            <a:ext cx="8412480" cy="228600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2356" y="2651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Efficiency Table — All Scenarios and Methods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" y="2884932"/>
            <a:ext cx="164592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2064" y="290322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21408" y="2884932"/>
            <a:ext cx="128016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157984" y="290322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P&amp;O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01568" y="2884932"/>
            <a:ext cx="141732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38144" y="2903220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Variable-Step P&amp;O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18888" y="2884932"/>
            <a:ext cx="141732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55464" y="2903220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Cond.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36208" y="2884932"/>
            <a:ext cx="182880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72784" y="29032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Helios-Artemis (this work)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65008" y="2884932"/>
            <a:ext cx="822960" cy="402336"/>
          </a:xfrm>
          <a:prstGeom prst="rect">
            <a:avLst/>
          </a:prstGeom>
          <a:solidFill>
            <a:srgbClr val="0B1F3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101584" y="29032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 P&amp;O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" y="3323844"/>
            <a:ext cx="16459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12064" y="334213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Day (Jan)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21408" y="3323844"/>
            <a:ext cx="12801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157984" y="334213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 ± 1.7%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01568" y="3323844"/>
            <a:ext cx="14173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438144" y="3342132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 ± 1.5%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18888" y="3323844"/>
            <a:ext cx="14173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855464" y="3342132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 ± 1.7%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36208" y="3323844"/>
            <a:ext cx="182880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72784" y="334213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 ± 1.1%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65008" y="3323844"/>
            <a:ext cx="8229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101584" y="3342132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 pp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" y="3762756"/>
            <a:ext cx="164592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12064" y="3781044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(Jul) ⚡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21408" y="3762756"/>
            <a:ext cx="128016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157984" y="3781044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70.9 ± 3.8%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01568" y="3762756"/>
            <a:ext cx="141732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3438144" y="3781044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 ± 3.4%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18888" y="3762756"/>
            <a:ext cx="141732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855464" y="3781044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 ± 3.8%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36208" y="3762756"/>
            <a:ext cx="1828800" cy="402336"/>
          </a:xfrm>
          <a:prstGeom prst="rect">
            <a:avLst/>
          </a:prstGeom>
          <a:solidFill>
            <a:srgbClr val="C8F0E8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272784" y="378104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 ± 2.1%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065008" y="3762756"/>
            <a:ext cx="82296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101584" y="3781044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+24.2 pp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75488" y="4201668"/>
            <a:ext cx="16459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12064" y="421995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Shading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21408" y="4201668"/>
            <a:ext cx="12801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2157984" y="4219956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 ± 2.4%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01568" y="4201668"/>
            <a:ext cx="14173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438144" y="4219956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 ± 2.0%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18888" y="4201668"/>
            <a:ext cx="141732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855464" y="4219956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 ± 2.1%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236208" y="4201668"/>
            <a:ext cx="182880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272784" y="42199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 ± 1.6%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065008" y="4201668"/>
            <a:ext cx="8229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101584" y="4219956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+7.7 pp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75488" y="464058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12064" y="465886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121408" y="4640580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157984" y="4658868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 ± 1.5%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401568" y="4640580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438144" y="4658868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 ± 1.2%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818888" y="4640580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855464" y="4658868"/>
            <a:ext cx="134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 ± 1.3%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236208" y="4640580"/>
            <a:ext cx="182880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272784" y="46588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 ± 1.0%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065008" y="4640580"/>
            <a:ext cx="822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101584" y="465886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 pp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402336" y="48234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(July, 30-day Monte Carlo): [92.9%, 94.9%] — All 30 days within 90–95% efficiency band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083296" y="46680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 — FULL-DAY SIM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July Day Simulation (Seed 23)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telemetry channels — Sylhet monsoon worst-case conditions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26974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664208"/>
            <a:ext cx="36576" cy="14447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Irradiance (GHI)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744 W/m²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" y="2743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Aerosol-capped; sub-second OU flicker active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66420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27832" y="1664208"/>
            <a:ext cx="269748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27832" y="1664208"/>
            <a:ext cx="36576" cy="14447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55848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P_PV vs P_MPP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2066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94.0–95.7%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2743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extracted / theoretical max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166420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89904" y="1664208"/>
            <a:ext cx="2697480" cy="36576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89904" y="1664208"/>
            <a:ext cx="36576" cy="1444752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1792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η_MPPT Tracking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2066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 mean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Monte Carlo range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1868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" y="3218688"/>
            <a:ext cx="269748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3218688"/>
            <a:ext cx="36576" cy="14447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3776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" y="36210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→ 100%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3776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 in 13-hr Sylhet July window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27832" y="321868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27832" y="3218688"/>
            <a:ext cx="2697480" cy="36576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227832" y="3218688"/>
            <a:ext cx="36576" cy="1444752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355848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55848" y="36210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12.41 – 13.61 V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55848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CC/CV profile: bulk → absorb → float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9904" y="3218688"/>
            <a:ext cx="2697480" cy="1444752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089904" y="3218688"/>
            <a:ext cx="26974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089904" y="3218688"/>
            <a:ext cx="36576" cy="14447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1792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 T_J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17920" y="36210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62 °C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217920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35°C ambient, Rth_JA ≈ 13.5°C/W, ~2W peak loss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292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validation: </a:t>
            </a:r>
            <a:r>
              <a:rPr lang="en-US" sz="10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reaches 100% within the 13-hour July solar window — confirms energy balance of controller design under maximum monsoon variability. Full charge from 45% initial state.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VALIDATION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Hossain et al. Field Baselines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simulation-to-field cross-validation (IDCOL SHS field-measured data)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465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Clear-Sky Validation (January)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Hossain et al. field range: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840480" cy="502920"/>
          </a:xfrm>
          <a:prstGeom prst="rect">
            <a:avLst/>
          </a:prstGeom>
          <a:solidFill>
            <a:srgbClr val="DDEEF5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4505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– 85% plain P&amp;O (field-measured)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P&amp;O (this work):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38404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3101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 ± 1.7% (Monte Carlo)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3840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50208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9264" y="3931920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within +1.8 pp of field upper bound — model over-performs slightly vs field (conservative)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4498848"/>
            <a:ext cx="3840480" cy="384048"/>
          </a:xfrm>
          <a:prstGeom prst="rect">
            <a:avLst/>
          </a:prstGeom>
          <a:solidFill>
            <a:srgbClr val="EBF7F7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0080" y="45354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Helios-Artemis clear-sky: 93.2 ± 1.1%  →  +6.4 pp above field maximum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1664208"/>
            <a:ext cx="406908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709160" y="1664208"/>
            <a:ext cx="40690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846320" y="17465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Validation (July)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Hossain et al. field range: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2423160"/>
            <a:ext cx="3749040" cy="502920"/>
          </a:xfrm>
          <a:prstGeom prst="rect">
            <a:avLst/>
          </a:prstGeom>
          <a:solidFill>
            <a:srgbClr val="DDEEF5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956048" y="245059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– 85% plain P&amp;O (field-measured)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84632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P&amp;O (this work):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3282696"/>
            <a:ext cx="374904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956048" y="331012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± 3.8% (Monte Carlo)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846320" y="3877056"/>
            <a:ext cx="3749040" cy="621792"/>
          </a:xfrm>
          <a:prstGeom prst="rect">
            <a:avLst/>
          </a:prstGeom>
          <a:solidFill>
            <a:srgbClr val="FEF9E7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950208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66944" y="3922776"/>
            <a:ext cx="3310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pp below field lower bound. </a:t>
            </a: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Sylhet Markov+OU sub-second flicker (σ=25%) being more severe than monthly-averaged field variability in Hossain et al. This conservative monsoon estimate STRENGTHENS the case for Helios-Artemis.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846320" y="4572000"/>
            <a:ext cx="3749040" cy="310896"/>
          </a:xfrm>
          <a:prstGeom prst="rect">
            <a:avLst/>
          </a:prstGeom>
          <a:solidFill>
            <a:srgbClr val="C8F0E8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4937760" y="46085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Helios-Artemis monsoon: 95.1 ± 2.1%  →  +16.8 pp above field minimum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COST-BENEFIT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and Economic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BOM vs IDCOL-compatible commercial alternatives — Q1 2026 Dhaka retail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3657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465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(BOM)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3977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1488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(Helios MCU)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214884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BDT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84448" y="2221992"/>
            <a:ext cx="764438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94606" y="22219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397764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5328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 (Artemis MCU)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88920" y="25328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BDT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4448" y="2606040"/>
            <a:ext cx="241402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71570" y="2606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898648"/>
            <a:ext cx="3977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291693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current sensor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88920" y="291693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BDT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84448" y="2990088"/>
            <a:ext cx="160934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91102" y="2990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282696"/>
            <a:ext cx="397764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33009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TSL2591 light sensor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88920" y="330098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BDT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84448" y="3374136"/>
            <a:ext cx="241402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71570" y="33741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66744"/>
            <a:ext cx="3977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36850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 passives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88920" y="36850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BDT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84448" y="3758184"/>
            <a:ext cx="704088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34256" y="37581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050792"/>
            <a:ext cx="397764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40690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and housing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88920" y="40690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BDT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84448" y="4142232"/>
            <a:ext cx="563270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93438" y="414223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3977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8640" y="445312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Misc. connectors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88920" y="44531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BDT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84448" y="4526280"/>
            <a:ext cx="341986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972154" y="452628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645152"/>
            <a:ext cx="3977640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02920" y="465429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CONTROLLER COST:  ~1,500 BDT  (≈ USD 14)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1664208"/>
            <a:ext cx="4069080" cy="3246120"/>
          </a:xfrm>
          <a:prstGeom prst="rect">
            <a:avLst/>
          </a:prstGeom>
          <a:solidFill>
            <a:srgbClr val="F0F6FA"/>
          </a:solidFill>
          <a:ln w="12700">
            <a:solidFill>
              <a:srgbClr val="D4E4E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709160" y="1664208"/>
            <a:ext cx="4069080" cy="36576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846320" y="17465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46320" y="2130552"/>
            <a:ext cx="3840480" cy="475488"/>
          </a:xfrm>
          <a:prstGeom prst="rect">
            <a:avLst/>
          </a:prstGeom>
          <a:solidFill>
            <a:srgbClr val="FFE4E1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956048" y="21671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IDCOL-compatible MPPT: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56048" y="23408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~13,500 BDT  (≈ USD 122)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846320" y="2679192"/>
            <a:ext cx="38404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956048" y="27157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Helios-Artemis controller: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56048" y="28895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BDT  (≈ USD 14)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846320" y="3227832"/>
            <a:ext cx="38404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cost reduction — saves ~12,000 BDT per unit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6320" y="3675888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937760" y="3694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efficiency gain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03136" y="3694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 kWh per 50 Wp panel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4014216"/>
            <a:ext cx="384048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937760" y="40325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avoided cost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03136" y="40325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BDT / kWh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46320" y="4352544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93776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value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03136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+289 BDT / year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46320" y="4690872"/>
            <a:ext cx="3840480" cy="301752"/>
          </a:xfrm>
          <a:prstGeom prst="rect">
            <a:avLst/>
          </a:prstGeom>
          <a:solidFill>
            <a:srgbClr val="F0F6FA"/>
          </a:solidFill>
          <a:ln w="12700">
            <a:solidFill>
              <a:srgbClr val="E0ECF2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93776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03136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~5.2 years vs plain P&amp;O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46320" y="5029200"/>
            <a:ext cx="3840480" cy="274320"/>
          </a:xfrm>
          <a:prstGeom prst="rect">
            <a:avLst/>
          </a:prstGeom>
          <a:solidFill>
            <a:srgbClr val="D5EEF5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937760" y="5056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6M households × 289 BDT/yr = ~1.73 Billion BDT annual energy value unlock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LIMITATIONS &amp;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and Research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validation — hardware prototype and field trial are the immediate next step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2860"/>
          </a:xfrm>
          <a:prstGeom prst="rect">
            <a:avLst/>
          </a:prstGeom>
          <a:solidFill>
            <a:srgbClr val="B8E0E0"/>
          </a:solidFill>
          <a:ln w="12700">
            <a:solidFill>
              <a:srgbClr val="B8E0E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017520"/>
          </a:xfrm>
          <a:prstGeom prst="rect">
            <a:avLst/>
          </a:prstGeom>
          <a:solidFill>
            <a:srgbClr val="FFF8F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" y="2130552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AB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5488" y="2130552"/>
            <a:ext cx="36576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03504" y="2167128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Simulation-only: </a:t>
            </a:r>
            <a:r>
              <a:rPr lang="en-US" sz="98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measurements collected. All efficiency figures derived from calibrated Sylhet Markov+OU model.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75488" y="2624328"/>
            <a:ext cx="3931920" cy="438912"/>
          </a:xfrm>
          <a:prstGeom prst="rect">
            <a:avLst/>
          </a:prstGeom>
          <a:solidFill>
            <a:srgbClr val="FFF4E8"/>
          </a:solidFill>
          <a:ln w="12700">
            <a:solidFill>
              <a:srgbClr val="F0DAB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75488" y="2624328"/>
            <a:ext cx="36576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03504" y="2660904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 error: </a:t>
            </a:r>
            <a:r>
              <a:rPr lang="en-US" sz="98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50.7 W/m² daytime — meaningful uncertainty in transient prediction accuracy.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75488" y="3118104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AB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75488" y="3118104"/>
            <a:ext cx="36576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03504" y="3154680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Sim-to-hardware fidelity: </a:t>
            </a:r>
            <a:r>
              <a:rPr lang="en-US" sz="98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formula efficiency gain (vs pure VS-P&amp;O) not empirically confirmed on real hardware.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475488" y="3611880"/>
            <a:ext cx="3931920" cy="438912"/>
          </a:xfrm>
          <a:prstGeom prst="rect">
            <a:avLst/>
          </a:prstGeom>
          <a:solidFill>
            <a:srgbClr val="FFF4E8"/>
          </a:solidFill>
          <a:ln w="12700">
            <a:solidFill>
              <a:srgbClr val="F0DAB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75488" y="3611880"/>
            <a:ext cx="36576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03504" y="3648456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degradation: </a:t>
            </a:r>
            <a:r>
              <a:rPr lang="en-US" sz="98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cycle life, SoC drift, and capacity fade not modelled in this study.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475488" y="4105656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AB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75488" y="4105656"/>
            <a:ext cx="36576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03504" y="4142232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9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R² = 0.917: </a:t>
            </a:r>
            <a:r>
              <a:rPr lang="en-US" sz="98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comparable cloud-connected LSTM papers (R²≈0.95+) — reflects Sylhet climate difficulty, not model weakness.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709160" y="1664208"/>
            <a:ext cx="4069080" cy="3017520"/>
          </a:xfrm>
          <a:prstGeom prst="rect">
            <a:avLst/>
          </a:prstGeom>
          <a:solidFill>
            <a:srgbClr val="F0FBF5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709160" y="1664208"/>
            <a:ext cx="4069080" cy="36576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3736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6636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Roadmap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818888" y="213055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DB0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818888" y="2130552"/>
            <a:ext cx="530352" cy="43891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4818888" y="213055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5413248" y="2167128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(Sylhet):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PCB, procure IRFB4110 (RDS(on) 3.7 mΩ).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818888" y="2624328"/>
            <a:ext cx="38404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B8DDB0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4818888" y="2624328"/>
            <a:ext cx="530352" cy="43891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4818888" y="262432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5413248" y="2660904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Deployment: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rural SHS site in Sylhet. Collect real-sensor irradiance for LSTM training data.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818888" y="311810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DB0"/>
            </a:solidFill>
            <a:prstDash val="solid"/>
          </a:ln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4818888" y="3118104"/>
            <a:ext cx="53035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4818888" y="311810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413248" y="3154680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Comparison: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vs simulated MPPT efficiency under identical irradiance — validate Markov+OU model fidelity.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818888" y="3611880"/>
            <a:ext cx="38404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B8DDB0"/>
            </a:solidFill>
            <a:prstDash val="solid"/>
          </a:ln>
        </p:spPr>
        <p:txBody>
          <a:bodyPr/>
          <a:p/>
        </p:txBody>
      </p:sp>
      <p:sp>
        <p:nvSpPr>
          <p:cNvPr id="43" name="Shape 39"/>
          <p:cNvSpPr/>
          <p:nvPr/>
        </p:nvSpPr>
        <p:spPr>
          <a:xfrm>
            <a:off x="4818888" y="3611880"/>
            <a:ext cx="530352" cy="438912"/>
          </a:xfrm>
          <a:prstGeom prst="rect">
            <a:avLst/>
          </a:prstGeom>
          <a:solidFill>
            <a:srgbClr val="1A9E5A"/>
          </a:solidFill>
          <a:ln w="12700">
            <a:solidFill>
              <a:srgbClr val="1A9E5A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4818888" y="3611880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5413248" y="36484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Submission: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MDPI Energies. Hardware-validated results with full methodology.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818888" y="410565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DB0"/>
            </a:solidFill>
            <a:prstDash val="solid"/>
          </a:ln>
        </p:spPr>
        <p:txBody>
          <a:bodyPr/>
          <a:p/>
        </p:txBody>
      </p:sp>
      <p:sp>
        <p:nvSpPr>
          <p:cNvPr id="47" name="Shape 43"/>
          <p:cNvSpPr/>
          <p:nvPr/>
        </p:nvSpPr>
        <p:spPr>
          <a:xfrm>
            <a:off x="4818888" y="4105656"/>
            <a:ext cx="530352" cy="438912"/>
          </a:xfrm>
          <a:prstGeom prst="rect">
            <a:avLst/>
          </a:prstGeom>
          <a:solidFill>
            <a:srgbClr val="4A6B7A"/>
          </a:solidFill>
          <a:ln w="12700">
            <a:solidFill>
              <a:srgbClr val="4A6B7A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4818888" y="4105656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5413248" y="414223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Expansion: </a:t>
            </a: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MPPT, partial shading optimisation, IRFB4110 thermal analysis, wider Bangladesh rollout.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502920" y="48097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code &amp; figure generation: github.com/touhidsiddiqueeraj-bit/artemis-helios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2743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04672"/>
            <a:ext cx="8046720" cy="27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96926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607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households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" y="146304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IDCOL SHS programme — monsoon P&amp;O tracking gap directly reduces household energy access &amp; battery cycle life.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92040" y="96926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097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0607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Dual-MCU decoupling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0056" y="146304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(Helios) handles LSTM inference without introducing jitter into STM32F103 (Artemis) 50 kHz control loop.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24942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3774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34086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0.917 predictor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59536" y="274320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independent test, 50.7 W/m² MAE. Lower than cloud-connected models — reflects Sylhet difficulty, not model failure.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224942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237744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34086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+23.3 pp monsoon gain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0056" y="274320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→ 94.0% (Monte Carlo); robust plateau α ∈ [0.20, 0.55] resolves overfitting concerns.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31520" y="352958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365760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6210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BDT controller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9536" y="402336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below commercial alternatives. ~5.2-year payback vs plain P&amp;O at rural 60 BDT/kWh avoided cost.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892040" y="3529584"/>
            <a:ext cx="3931920" cy="1170432"/>
          </a:xfrm>
          <a:prstGeom prst="rect">
            <a:avLst/>
          </a:prstGeom>
          <a:solidFill>
            <a:srgbClr val="122D50"/>
          </a:solidFill>
          <a:ln w="12700">
            <a:solidFill>
              <a:srgbClr val="0D8A8A"/>
            </a:solidFill>
            <a:prstDash val="solid"/>
          </a:ln>
        </p:spPr>
        <p:txBody>
          <a:bodyPr/>
          <a:p/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3657600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6210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hardware &amp; field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020056" y="4023360"/>
            <a:ext cx="36758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Sylhet prototype. IRFB4110 MOSFET upgrade (−86% conduction loss). Then journal submission.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1520" y="4828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Hussain Touhid Siddiquee  ·  Dept. EEE, Leading University Sylhet  ·  2026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B8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2364</Words>
  <Application>Microsoft Office PowerPoint</Application>
  <PresentationFormat>On-screen Show (16:9)</PresentationFormat>
  <Paragraphs>446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Helios-Artemis: Dual-MCU Predictive MPPT</dc:title>
  <dc:subject>PptxGenJS Presentation</dc:subject>
  <dc:creator>Hussain Touhid Siddiquee</dc:creator>
  <cp:lastModifiedBy>mourymarjana@gmail.com</cp:lastModifiedBy>
  <cp:revision>2</cp:revision>
  <dcterms:created xsi:type="dcterms:W3CDTF">2026-05-19T03:30:30Z</dcterms:created>
  <dcterms:modified xsi:type="dcterms:W3CDTF">2026-05-19T04:05:37Z</dcterms:modified>
</cp:coreProperties>
</file>