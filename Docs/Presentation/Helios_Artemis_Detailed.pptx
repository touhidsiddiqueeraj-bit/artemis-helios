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6" d="100"/>
          <a:sy n="116" d="100"/>
        </p:scale>
        <p:origin x="49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063086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27432" cy="5143500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91440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Helios-Artemis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731520" y="187452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B8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Dual-MCU Predictive MPPT Controller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395728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F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and Simulation-Based Validation for Sylhet Monsoon SHS Deployment · Bangladesh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731520" y="2907792"/>
            <a:ext cx="8046720" cy="27432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054096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Hussain Touhid Siddiquee  ·  Dept. of EEE, Leading University Sylhet  ·  2026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" y="3566160"/>
            <a:ext cx="1920240" cy="1234440"/>
          </a:xfrm>
          <a:prstGeom prst="rect">
            <a:avLst/>
          </a:prstGeom>
          <a:solidFill>
            <a:srgbClr val="122D50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630168"/>
            <a:ext cx="1737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94.0%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22960" y="420624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B8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Monsoon Efficiency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834640" y="3566160"/>
            <a:ext cx="1920240" cy="1234440"/>
          </a:xfrm>
          <a:prstGeom prst="rect">
            <a:avLst/>
          </a:prstGeom>
          <a:solidFill>
            <a:srgbClr val="122D50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26080" y="3630168"/>
            <a:ext cx="1737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+23.3 pp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926080" y="420624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B8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 vs P&amp;O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937760" y="3566160"/>
            <a:ext cx="1920240" cy="1234440"/>
          </a:xfrm>
          <a:prstGeom prst="rect">
            <a:avLst/>
          </a:prstGeom>
          <a:solidFill>
            <a:srgbClr val="122D50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0" y="3630168"/>
            <a:ext cx="1737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~1,500 BDT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029200" y="420624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B8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Cost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040880" y="3566160"/>
            <a:ext cx="1920240" cy="1234440"/>
          </a:xfrm>
          <a:prstGeom prst="rect">
            <a:avLst/>
          </a:prstGeom>
          <a:solidFill>
            <a:srgbClr val="122D50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0" y="3630168"/>
            <a:ext cx="1737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89% ↓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132320" y="420624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B8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Commercial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046720" y="489204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FAAB8"/>
                </a:solidFill>
              </a:rPr>
              <a:t>1 / 14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1645920" cy="256032"/>
          </a:xfrm>
          <a:prstGeom prst="rect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CONTEXT &amp; PROBLEM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65760" y="603504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Monsoon Yield Gap in Bangladesh Solar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225296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IDCOL SHS Programme — 6 million rural households affected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65760" y="1481328"/>
            <a:ext cx="8412480" cy="22860"/>
          </a:xfrm>
          <a:prstGeom prst="rect">
            <a:avLst/>
          </a:prstGeom>
          <a:solidFill>
            <a:srgbClr val="B8E0E0"/>
          </a:solidFill>
          <a:ln w="12700">
            <a:solidFill>
              <a:srgbClr val="B8E0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572768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Bangladesh's IDCOL Solar Home System programme </a:t>
            </a:r>
            <a:r>
              <a:rPr lang="en-US" sz="1200" b="1" dirty="0">
                <a:solidFill>
                  <a:srgbClr val="0D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electrified 6M+ rural households</a:t>
            </a: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world's largest off-grid solar programme. Yet </a:t>
            </a: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MPPT efficiency is the #1 cause of yield shortfall</a:t>
            </a: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every monsoon season (June–September).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2148840"/>
            <a:ext cx="1920240" cy="914400"/>
          </a:xfrm>
          <a:prstGeom prst="rect">
            <a:avLst/>
          </a:prstGeom>
          <a:solidFill>
            <a:srgbClr val="F0F6FA"/>
          </a:solidFill>
          <a:ln w="12700">
            <a:solidFill>
              <a:srgbClr val="D8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2148840"/>
            <a:ext cx="50292" cy="914400"/>
          </a:xfrm>
          <a:prstGeom prst="rect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" y="2221992"/>
            <a:ext cx="1755648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2200" b="1" dirty="0">
                <a:solidFill>
                  <a:srgbClr val="0D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6M+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75488" y="2670048"/>
            <a:ext cx="17556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Rural households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75488" y="2898648"/>
            <a:ext cx="17556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8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IDCOL SHS programme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5760" y="3145536"/>
            <a:ext cx="1920240" cy="914400"/>
          </a:xfrm>
          <a:prstGeom prst="rect">
            <a:avLst/>
          </a:prstGeom>
          <a:solidFill>
            <a:srgbClr val="F0F6FA"/>
          </a:solidFill>
          <a:ln w="12700">
            <a:solidFill>
              <a:srgbClr val="D8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3145536"/>
            <a:ext cx="50292" cy="9144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5488" y="3218688"/>
            <a:ext cx="1755648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2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70.7%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75488" y="3666744"/>
            <a:ext cx="17556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monsoon efficiency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75488" y="3895344"/>
            <a:ext cx="17556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8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Min. single-day P&amp;O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65760" y="4142232"/>
            <a:ext cx="1920240" cy="822960"/>
          </a:xfrm>
          <a:prstGeom prst="rect">
            <a:avLst/>
          </a:prstGeom>
          <a:solidFill>
            <a:srgbClr val="F0F6FA"/>
          </a:solidFill>
          <a:ln w="12700">
            <a:solidFill>
              <a:srgbClr val="D8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" y="4142232"/>
            <a:ext cx="50292" cy="822960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" y="4215384"/>
            <a:ext cx="1755648" cy="427939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2200" b="1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−15.1pp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475488" y="4611319"/>
            <a:ext cx="1755648" cy="2304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shortfall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75488" y="4817059"/>
            <a:ext cx="17556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8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clear-sky 86.8%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468880" y="2148840"/>
            <a:ext cx="6309360" cy="2834640"/>
          </a:xfrm>
          <a:prstGeom prst="rect">
            <a:avLst/>
          </a:prstGeom>
          <a:solidFill>
            <a:srgbClr val="F0F6FA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468880" y="2148840"/>
            <a:ext cx="6309360" cy="36576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06040" y="2231136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Standard P&amp;O Fails in Monsoon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2651760"/>
            <a:ext cx="45720" cy="347472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761488" y="2642616"/>
            <a:ext cx="58704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paradigm:</a:t>
            </a:r>
            <a:r>
              <a:rPr lang="en-US" sz="110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P&amp;O only responds AFTER irradiance has changed — always one step behind.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606040" y="3172968"/>
            <a:ext cx="45720" cy="347472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61488" y="3163824"/>
            <a:ext cx="58704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transients:</a:t>
            </a:r>
            <a:r>
              <a:rPr lang="en-US" sz="110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Sylhet monsoon brings sub-second irradiance swings up to ±25% (σ = 25%, Ornstein-Uhlenbeck calibrated).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606040" y="3694176"/>
            <a:ext cx="45720" cy="347472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61488" y="3685032"/>
            <a:ext cx="58704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Perturbation mismatch:</a:t>
            </a:r>
            <a:r>
              <a:rPr lang="en-US" sz="110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a cloud shadow arrives mid-perturbation, the controller steps the wrong direction, wasting energy during recovery.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606040" y="4215384"/>
            <a:ext cx="45720" cy="347472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61488" y="4206240"/>
            <a:ext cx="58704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of loss:</a:t>
            </a:r>
            <a:r>
              <a:rPr lang="en-US" sz="110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15.1 percentage-point drop = significant annual kWh loss across 6M homes and accelerated battery wear.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046720" y="489204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FAAB8"/>
                </a:solidFill>
              </a:rPr>
              <a:t>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1645920" cy="256032"/>
          </a:xfrm>
          <a:prstGeom prst="rect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ARCHITECTURE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65760" y="603504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Dual-MCU Architecture: Helios + Artemis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225296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decoupling of AI inference from real-time power control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65760" y="1481328"/>
            <a:ext cx="8412480" cy="22860"/>
          </a:xfrm>
          <a:prstGeom prst="rect">
            <a:avLst/>
          </a:prstGeom>
          <a:solidFill>
            <a:srgbClr val="B8E0E0"/>
          </a:solidFill>
          <a:ln w="12700">
            <a:solidFill>
              <a:srgbClr val="B8E0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664208"/>
            <a:ext cx="3657600" cy="3246120"/>
          </a:xfrm>
          <a:prstGeom prst="rect">
            <a:avLst/>
          </a:prstGeom>
          <a:solidFill>
            <a:srgbClr val="EBF7F7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664208"/>
            <a:ext cx="3657600" cy="420624"/>
          </a:xfrm>
          <a:prstGeom prst="rect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09928"/>
            <a:ext cx="310896" cy="31089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59536" y="1709928"/>
            <a:ext cx="3017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HELIOS  (ESP32-S3)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57200" y="2176272"/>
            <a:ext cx="3474720" cy="402336"/>
          </a:xfrm>
          <a:prstGeom prst="rect">
            <a:avLst/>
          </a:prstGeom>
          <a:solidFill>
            <a:srgbClr val="DDEEF5"/>
          </a:solidFill>
          <a:ln w="12700">
            <a:solidFill>
              <a:srgbClr val="C5DDE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66928" y="2212848"/>
            <a:ext cx="32735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9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 MHz dual-core, 512 kB SRAM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566928" y="2386584"/>
            <a:ext cx="327355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Brain: Edge AI processor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57200" y="2633472"/>
            <a:ext cx="3474720" cy="402336"/>
          </a:xfrm>
          <a:prstGeom prst="rect">
            <a:avLst/>
          </a:prstGeom>
          <a:solidFill>
            <a:srgbClr val="EBF7F7"/>
          </a:solidFill>
          <a:ln w="12700">
            <a:solidFill>
              <a:srgbClr val="C5DDE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6928" y="2670048"/>
            <a:ext cx="32735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9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inference &lt; 12 ms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566928" y="2843784"/>
            <a:ext cx="327355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32-unit model, 7,430 params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57200" y="3090672"/>
            <a:ext cx="3474720" cy="402336"/>
          </a:xfrm>
          <a:prstGeom prst="rect">
            <a:avLst/>
          </a:prstGeom>
          <a:solidFill>
            <a:srgbClr val="DDEEF5"/>
          </a:solidFill>
          <a:ln w="12700">
            <a:solidFill>
              <a:srgbClr val="C5DDE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6928" y="3127248"/>
            <a:ext cx="32735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9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TSL2591 light sensor + OV2640 camera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66928" y="3300984"/>
            <a:ext cx="327355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Sky condition input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457200" y="3547872"/>
            <a:ext cx="3474720" cy="402336"/>
          </a:xfrm>
          <a:prstGeom prst="rect">
            <a:avLst/>
          </a:prstGeom>
          <a:solidFill>
            <a:srgbClr val="EBF7F7"/>
          </a:solidFill>
          <a:ln w="12700">
            <a:solidFill>
              <a:srgbClr val="C5DDE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6928" y="3584448"/>
            <a:ext cx="32735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9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ms UART → sends V_MPP_pred to Artemis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566928" y="3758184"/>
            <a:ext cx="327355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 bridge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457200" y="4005072"/>
            <a:ext cx="3474720" cy="402336"/>
          </a:xfrm>
          <a:prstGeom prst="rect">
            <a:avLst/>
          </a:prstGeom>
          <a:solidFill>
            <a:srgbClr val="DDEEF5"/>
          </a:solidFill>
          <a:ln w="12700">
            <a:solidFill>
              <a:srgbClr val="C5DDE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66928" y="4041648"/>
            <a:ext cx="32735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9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TF.js on-device retraining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566928" y="4215384"/>
            <a:ext cx="327355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14-day silent cycles, zero cloud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457200" y="4462272"/>
            <a:ext cx="3474720" cy="402336"/>
          </a:xfrm>
          <a:prstGeom prst="rect">
            <a:avLst/>
          </a:prstGeom>
          <a:solidFill>
            <a:srgbClr val="EBF7F7"/>
          </a:solidFill>
          <a:ln w="12700">
            <a:solidFill>
              <a:srgbClr val="C5DDE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66928" y="4498848"/>
            <a:ext cx="32735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9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 logging + browser dashboard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566928" y="4672584"/>
            <a:ext cx="327355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&amp; data capture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160520" y="3127248"/>
            <a:ext cx="822960" cy="54864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892040" y="3035808"/>
            <a:ext cx="54864" cy="228600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133088" y="3236976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ms UART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4133088" y="2944368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←→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5120640" y="1664208"/>
            <a:ext cx="3657600" cy="3246120"/>
          </a:xfrm>
          <a:prstGeom prst="rect">
            <a:avLst/>
          </a:prstGeom>
          <a:solidFill>
            <a:srgbClr val="EFF5EB"/>
          </a:solidFill>
          <a:ln w="12700">
            <a:solidFill>
              <a:srgbClr val="1A9E5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120640" y="1664208"/>
            <a:ext cx="3657600" cy="420624"/>
          </a:xfrm>
          <a:prstGeom prst="rect">
            <a:avLst/>
          </a:prstGeom>
          <a:solidFill>
            <a:srgbClr val="157A45"/>
          </a:solidFill>
          <a:ln w="12700">
            <a:solidFill>
              <a:srgbClr val="157A45"/>
            </a:solidFill>
            <a:prstDash val="solid"/>
          </a:ln>
        </p:spPr>
      </p:sp>
      <p:pic>
        <p:nvPicPr>
          <p:cNvPr id="3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7800" y="1709928"/>
            <a:ext cx="310896" cy="310896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5614416" y="1709928"/>
            <a:ext cx="3017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ARTEMIS  (STM32F103)</a:t>
            </a:r>
            <a:endParaRPr lang="en-US" sz="1400" dirty="0"/>
          </a:p>
        </p:txBody>
      </p:sp>
      <p:sp>
        <p:nvSpPr>
          <p:cNvPr id="37" name="Shape 33"/>
          <p:cNvSpPr/>
          <p:nvPr/>
        </p:nvSpPr>
        <p:spPr>
          <a:xfrm>
            <a:off x="5212080" y="2176272"/>
            <a:ext cx="3474720" cy="402336"/>
          </a:xfrm>
          <a:prstGeom prst="rect">
            <a:avLst/>
          </a:prstGeom>
          <a:solidFill>
            <a:srgbClr val="D8EDD5"/>
          </a:solidFill>
          <a:ln w="12700">
            <a:solidFill>
              <a:srgbClr val="BDDAB8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321808" y="2212848"/>
            <a:ext cx="32735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57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 MHz Cortex-M3, 20 kB SRAM</a:t>
            </a:r>
            <a:endParaRPr lang="en-US" sz="1050" dirty="0"/>
          </a:p>
        </p:txBody>
      </p:sp>
      <p:sp>
        <p:nvSpPr>
          <p:cNvPr id="39" name="Text 35"/>
          <p:cNvSpPr/>
          <p:nvPr/>
        </p:nvSpPr>
        <p:spPr>
          <a:xfrm>
            <a:off x="5321808" y="2386584"/>
            <a:ext cx="327355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Muscle: Real-time power controller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5212080" y="2633472"/>
            <a:ext cx="3474720" cy="402336"/>
          </a:xfrm>
          <a:prstGeom prst="rect">
            <a:avLst/>
          </a:prstGeom>
          <a:solidFill>
            <a:srgbClr val="EFF5EB"/>
          </a:solidFill>
          <a:ln w="12700">
            <a:solidFill>
              <a:srgbClr val="BDDAB8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321808" y="2670048"/>
            <a:ext cx="32735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57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kHz PWM — IRFZ44N via TC4420</a:t>
            </a:r>
            <a:endParaRPr lang="en-US" sz="1050" dirty="0"/>
          </a:p>
        </p:txBody>
      </p:sp>
      <p:sp>
        <p:nvSpPr>
          <p:cNvPr id="42" name="Text 38"/>
          <p:cNvSpPr/>
          <p:nvPr/>
        </p:nvSpPr>
        <p:spPr>
          <a:xfrm>
            <a:off x="5321808" y="2843784"/>
            <a:ext cx="327355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 converter switching</a:t>
            </a:r>
            <a:endParaRPr lang="en-US" sz="950" dirty="0"/>
          </a:p>
        </p:txBody>
      </p:sp>
      <p:sp>
        <p:nvSpPr>
          <p:cNvPr id="43" name="Shape 39"/>
          <p:cNvSpPr/>
          <p:nvPr/>
        </p:nvSpPr>
        <p:spPr>
          <a:xfrm>
            <a:off x="5212080" y="3090672"/>
            <a:ext cx="3474720" cy="402336"/>
          </a:xfrm>
          <a:prstGeom prst="rect">
            <a:avLst/>
          </a:prstGeom>
          <a:solidFill>
            <a:srgbClr val="D8EDD5"/>
          </a:solidFill>
          <a:ln w="12700">
            <a:solidFill>
              <a:srgbClr val="BDDAB8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321808" y="3127248"/>
            <a:ext cx="32735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57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Variable-step P&amp;O every 100 ms</a:t>
            </a:r>
            <a:endParaRPr lang="en-US" sz="1050" dirty="0"/>
          </a:p>
        </p:txBody>
      </p:sp>
      <p:sp>
        <p:nvSpPr>
          <p:cNvPr id="45" name="Text 41"/>
          <p:cNvSpPr/>
          <p:nvPr/>
        </p:nvSpPr>
        <p:spPr>
          <a:xfrm>
            <a:off x="5321808" y="3300984"/>
            <a:ext cx="327355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MPPT algorithm (reactive)</a:t>
            </a:r>
            <a:endParaRPr lang="en-US" sz="950" dirty="0"/>
          </a:p>
        </p:txBody>
      </p:sp>
      <p:sp>
        <p:nvSpPr>
          <p:cNvPr id="46" name="Shape 42"/>
          <p:cNvSpPr/>
          <p:nvPr/>
        </p:nvSpPr>
        <p:spPr>
          <a:xfrm>
            <a:off x="5212080" y="3547872"/>
            <a:ext cx="3474720" cy="402336"/>
          </a:xfrm>
          <a:prstGeom prst="rect">
            <a:avLst/>
          </a:prstGeom>
          <a:solidFill>
            <a:srgbClr val="EFF5EB"/>
          </a:solidFill>
          <a:ln w="12700">
            <a:solidFill>
              <a:srgbClr val="BDDAB8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321808" y="3584448"/>
            <a:ext cx="32735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57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V_ref = (1−α)·V_P&amp;O + α·V_pred</a:t>
            </a:r>
            <a:endParaRPr lang="en-US" sz="1050" dirty="0"/>
          </a:p>
        </p:txBody>
      </p:sp>
      <p:sp>
        <p:nvSpPr>
          <p:cNvPr id="48" name="Text 44"/>
          <p:cNvSpPr/>
          <p:nvPr/>
        </p:nvSpPr>
        <p:spPr>
          <a:xfrm>
            <a:off x="5321808" y="3758184"/>
            <a:ext cx="327355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blend formula</a:t>
            </a:r>
            <a:endParaRPr lang="en-US" sz="950" dirty="0"/>
          </a:p>
        </p:txBody>
      </p:sp>
      <p:sp>
        <p:nvSpPr>
          <p:cNvPr id="49" name="Shape 45"/>
          <p:cNvSpPr/>
          <p:nvPr/>
        </p:nvSpPr>
        <p:spPr>
          <a:xfrm>
            <a:off x="5212080" y="4005072"/>
            <a:ext cx="3474720" cy="402336"/>
          </a:xfrm>
          <a:prstGeom prst="rect">
            <a:avLst/>
          </a:prstGeom>
          <a:solidFill>
            <a:srgbClr val="D8EDD5"/>
          </a:solidFill>
          <a:ln w="12700">
            <a:solidFill>
              <a:srgbClr val="BDDAB8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321808" y="4041648"/>
            <a:ext cx="32735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57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INA219 12-bit I²C, 0.1Ω shunt</a:t>
            </a:r>
            <a:endParaRPr lang="en-US" sz="1050" dirty="0"/>
          </a:p>
        </p:txBody>
      </p:sp>
      <p:sp>
        <p:nvSpPr>
          <p:cNvPr id="51" name="Text 47"/>
          <p:cNvSpPr/>
          <p:nvPr/>
        </p:nvSpPr>
        <p:spPr>
          <a:xfrm>
            <a:off x="5321808" y="4215384"/>
            <a:ext cx="327355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current/voltage monitor</a:t>
            </a:r>
            <a:endParaRPr lang="en-US" sz="950" dirty="0"/>
          </a:p>
        </p:txBody>
      </p:sp>
      <p:sp>
        <p:nvSpPr>
          <p:cNvPr id="52" name="Shape 48"/>
          <p:cNvSpPr/>
          <p:nvPr/>
        </p:nvSpPr>
        <p:spPr>
          <a:xfrm>
            <a:off x="5212080" y="4462272"/>
            <a:ext cx="3474720" cy="402336"/>
          </a:xfrm>
          <a:prstGeom prst="rect">
            <a:avLst/>
          </a:prstGeom>
          <a:solidFill>
            <a:srgbClr val="EFF5EB"/>
          </a:solidFill>
          <a:ln w="12700">
            <a:solidFill>
              <a:srgbClr val="BDDAB8"/>
            </a:solidFill>
            <a:prstDash val="solid"/>
          </a:ln>
        </p:spPr>
      </p:sp>
      <p:sp>
        <p:nvSpPr>
          <p:cNvPr id="53" name="Text 49"/>
          <p:cNvSpPr/>
          <p:nvPr/>
        </p:nvSpPr>
        <p:spPr>
          <a:xfrm>
            <a:off x="5321808" y="4498848"/>
            <a:ext cx="32735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57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3-stage CC/CV charging</a:t>
            </a:r>
            <a:endParaRPr lang="en-US" sz="1050" dirty="0"/>
          </a:p>
        </p:txBody>
      </p:sp>
      <p:sp>
        <p:nvSpPr>
          <p:cNvPr id="54" name="Text 50"/>
          <p:cNvSpPr/>
          <p:nvPr/>
        </p:nvSpPr>
        <p:spPr>
          <a:xfrm>
            <a:off x="5321808" y="4672584"/>
            <a:ext cx="327355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6A → Absorb 14.7V → Float 13.8V</a:t>
            </a:r>
            <a:endParaRPr lang="en-US" sz="950" dirty="0"/>
          </a:p>
        </p:txBody>
      </p:sp>
      <p:sp>
        <p:nvSpPr>
          <p:cNvPr id="55" name="Text 51"/>
          <p:cNvSpPr/>
          <p:nvPr/>
        </p:nvSpPr>
        <p:spPr>
          <a:xfrm>
            <a:off x="8046720" y="489204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FAAB8"/>
                </a:solidFill>
              </a:rPr>
              <a:t>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1645920" cy="256032"/>
          </a:xfrm>
          <a:prstGeom prst="rect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ARTEMIS — POWER STAGE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65760" y="603504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Variable-Step P&amp;O and Buck Converter Design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225296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STM32F103 real-time control — 50 kHz switching, adaptive step sizing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65760" y="1481328"/>
            <a:ext cx="8412480" cy="22860"/>
          </a:xfrm>
          <a:prstGeom prst="rect">
            <a:avLst/>
          </a:prstGeom>
          <a:solidFill>
            <a:srgbClr val="B8E0E0"/>
          </a:solidFill>
          <a:ln w="12700">
            <a:solidFill>
              <a:srgbClr val="B8E0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664208"/>
            <a:ext cx="4160520" cy="3246120"/>
          </a:xfrm>
          <a:prstGeom prst="rect">
            <a:avLst/>
          </a:prstGeom>
          <a:solidFill>
            <a:srgbClr val="F0F6FA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664208"/>
            <a:ext cx="4160520" cy="36576"/>
          </a:xfrm>
          <a:prstGeom prst="rect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746504"/>
            <a:ext cx="3886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Variable-Step P&amp;O Algorithm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103120"/>
            <a:ext cx="397764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CF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121408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size law: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993392" y="2121408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dV = clip(0.008 · |dP/dV|,  0.05, 0.60) V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" y="2441448"/>
            <a:ext cx="3977640" cy="301752"/>
          </a:xfrm>
          <a:prstGeom prst="rect">
            <a:avLst/>
          </a:prstGeom>
          <a:solidFill>
            <a:srgbClr val="F0F6FA"/>
          </a:solidFill>
          <a:ln w="12700">
            <a:solidFill>
              <a:srgbClr val="E0ECF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459736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Cold-start convergence: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993392" y="2459736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~18 steps to 94% of MPP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779776"/>
            <a:ext cx="397764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C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2798064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Steady-state oscillation: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993392" y="2798064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— step floors at 50 mV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3118104"/>
            <a:ext cx="3977640" cy="301752"/>
          </a:xfrm>
          <a:prstGeom prst="rect">
            <a:avLst/>
          </a:prstGeom>
          <a:solidFill>
            <a:srgbClr val="F0F6FA"/>
          </a:solidFill>
          <a:ln w="12700">
            <a:solidFill>
              <a:srgbClr val="E0ECF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3136392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blend: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993392" y="3136392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V_ref = (1−α)·V_P&amp;O + α·V_MPP,pred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" y="3456432"/>
            <a:ext cx="397764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C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3474720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 deadband: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993392" y="3474720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|Ĝ−G|/G &gt; 15% — suppresses spurious blends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" y="3794760"/>
            <a:ext cx="3977640" cy="301752"/>
          </a:xfrm>
          <a:prstGeom prst="rect">
            <a:avLst/>
          </a:prstGeom>
          <a:solidFill>
            <a:srgbClr val="F0F6FA"/>
          </a:solidFill>
          <a:ln w="12700">
            <a:solidFill>
              <a:srgbClr val="E0ECF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3813048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Cloud-clearing α: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993392" y="3813048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0.45·exp(−1.5·rel_dev)  [higher trust]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57200" y="4133088"/>
            <a:ext cx="397764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CF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4151376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Cloud-drop α: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993392" y="4151376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0.08·exp(−1.0·rel_dev)  [conservative]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57200" y="4471416"/>
            <a:ext cx="3977640" cy="301752"/>
          </a:xfrm>
          <a:prstGeom prst="rect">
            <a:avLst/>
          </a:prstGeom>
          <a:solidFill>
            <a:srgbClr val="F0F6FA"/>
          </a:solidFill>
          <a:ln w="12700">
            <a:solidFill>
              <a:srgbClr val="E0ECF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4489704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Post-blend cooldown: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1993392" y="4489704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steps before next blend event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709160" y="1664208"/>
            <a:ext cx="4069080" cy="3246120"/>
          </a:xfrm>
          <a:prstGeom prst="rect">
            <a:avLst/>
          </a:prstGeom>
          <a:solidFill>
            <a:srgbClr val="F0F6FA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09160" y="1664208"/>
            <a:ext cx="4069080" cy="36576"/>
          </a:xfrm>
          <a:prstGeom prst="rect">
            <a:avLst/>
          </a:prstGeom>
          <a:solidFill>
            <a:srgbClr val="1A9E5A"/>
          </a:solidFill>
          <a:ln w="12700">
            <a:solidFill>
              <a:srgbClr val="1A9E5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46320" y="1746504"/>
            <a:ext cx="3794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 Converter &amp; Battery Charging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4800600" y="2103120"/>
            <a:ext cx="388620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CF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92040" y="2121408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MOSFET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108192" y="2121408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IRFZ44N — VDS 60V, RDS(on) 28 mΩ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800600" y="2441448"/>
            <a:ext cx="3886200" cy="301752"/>
          </a:xfrm>
          <a:prstGeom prst="rect">
            <a:avLst/>
          </a:prstGeom>
          <a:solidFill>
            <a:srgbClr val="F0F6FA"/>
          </a:solidFill>
          <a:ln w="12700">
            <a:solidFill>
              <a:srgbClr val="E0ECF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92040" y="2459736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Driver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6108192" y="2459736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TC4420 — 50 kHz PWM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800600" y="2779776"/>
            <a:ext cx="388620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CF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92040" y="2798064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Inductor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6108192" y="2798064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μH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800600" y="3118104"/>
            <a:ext cx="3886200" cy="301752"/>
          </a:xfrm>
          <a:prstGeom prst="rect">
            <a:avLst/>
          </a:prstGeom>
          <a:solidFill>
            <a:srgbClr val="F0F6FA"/>
          </a:solidFill>
          <a:ln w="12700">
            <a:solidFill>
              <a:srgbClr val="E0ECF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92040" y="313639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Capacitor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6108192" y="3136392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470 μF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4800600" y="3456432"/>
            <a:ext cx="388620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CF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92040" y="347472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Sense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6108192" y="347472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INA219 — 12-bit, I²C, 0.1Ω shunt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4800600" y="3794760"/>
            <a:ext cx="3886200" cy="301752"/>
          </a:xfrm>
          <a:prstGeom prst="rect">
            <a:avLst/>
          </a:prstGeom>
          <a:solidFill>
            <a:srgbClr val="F0F6FA"/>
          </a:solidFill>
          <a:ln w="12700">
            <a:solidFill>
              <a:srgbClr val="E0ECF2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892040" y="3813048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noise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6108192" y="3813048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σ_I = 2 mA, σ_V = 10 mV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4846320" y="4160520"/>
            <a:ext cx="3794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3-Stage CC/CV Charging Profile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4800600" y="4462272"/>
            <a:ext cx="1261872" cy="38404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800600" y="4471416"/>
            <a:ext cx="12618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4800600" y="4636008"/>
            <a:ext cx="12618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  until 14.7 V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099048" y="4462272"/>
            <a:ext cx="1261872" cy="384048"/>
          </a:xfrm>
          <a:prstGeom prst="rect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099048" y="4471416"/>
            <a:ext cx="12618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Absorption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6099048" y="4636008"/>
            <a:ext cx="12618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14.7 V  until I &lt; 0.5 A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7397496" y="4462272"/>
            <a:ext cx="1261872" cy="384048"/>
          </a:xfrm>
          <a:prstGeom prst="rect">
            <a:avLst/>
          </a:prstGeom>
          <a:solidFill>
            <a:srgbClr val="1A9E5A"/>
          </a:solidFill>
          <a:ln w="12700">
            <a:solidFill>
              <a:srgbClr val="1A9E5A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397496" y="4471416"/>
            <a:ext cx="12618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7397496" y="4636008"/>
            <a:ext cx="12618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13.8 V  maintenance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8046720" y="489204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FAAB8"/>
                </a:solidFill>
              </a:rPr>
              <a:t>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1645920" cy="256032"/>
          </a:xfrm>
          <a:prstGeom prst="rect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HELIOS — LSTM AI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65760" y="603504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Dual-LSTM Architecture on ESP32-S3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225296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Irradiance forecaster + gain scheduler — TinyML for edge deployment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65760" y="1481328"/>
            <a:ext cx="8412480" cy="22860"/>
          </a:xfrm>
          <a:prstGeom prst="rect">
            <a:avLst/>
          </a:prstGeom>
          <a:solidFill>
            <a:srgbClr val="B8E0E0"/>
          </a:solidFill>
          <a:ln w="12700">
            <a:solidFill>
              <a:srgbClr val="B8E0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664208"/>
            <a:ext cx="4160520" cy="3246120"/>
          </a:xfrm>
          <a:prstGeom prst="rect">
            <a:avLst/>
          </a:prstGeom>
          <a:solidFill>
            <a:srgbClr val="F0F6FA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664208"/>
            <a:ext cx="4160520" cy="36576"/>
          </a:xfrm>
          <a:prstGeom prst="rect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746504"/>
            <a:ext cx="3886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Architecture &amp; Specifications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2121408"/>
            <a:ext cx="3840480" cy="1298448"/>
          </a:xfrm>
          <a:prstGeom prst="rect">
            <a:avLst/>
          </a:prstGeom>
          <a:solidFill>
            <a:srgbClr val="D5EEF5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" y="2176272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9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1 — Irradiance Forecaster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2468880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Units: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481328" y="2468880"/>
            <a:ext cx="2743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LSTM units, 1 layer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" y="264261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481328" y="2642616"/>
            <a:ext cx="2743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24-hr normalised GHI lookback (288 steps × 5-min)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40080" y="2816352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481328" y="2816352"/>
            <a:ext cx="2743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30-min ahead GHI prediction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2990088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Params: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481328" y="2990088"/>
            <a:ext cx="2743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7,329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40080" y="3163824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Inference: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481328" y="3163824"/>
            <a:ext cx="2743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12 ms float32 on ESP32-S3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02920" y="3493008"/>
            <a:ext cx="3840480" cy="987552"/>
          </a:xfrm>
          <a:prstGeom prst="rect">
            <a:avLst/>
          </a:prstGeom>
          <a:solidFill>
            <a:srgbClr val="FDEBD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1792" y="3547872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B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2 — Gain Scheduler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080" y="3840480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Units: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481328" y="3840480"/>
            <a:ext cx="2743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LSTM units, 1 layer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40080" y="401421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481328" y="4014216"/>
            <a:ext cx="2743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 P&amp;O step scaling factor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0080" y="4187952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Params: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481328" y="4187952"/>
            <a:ext cx="2743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101  (total dual-model: 7,430)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709160" y="1664208"/>
            <a:ext cx="4069080" cy="3246120"/>
          </a:xfrm>
          <a:prstGeom prst="rect">
            <a:avLst/>
          </a:prstGeom>
          <a:solidFill>
            <a:srgbClr val="F0F6FA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709160" y="1664208"/>
            <a:ext cx="4069080" cy="36576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46320" y="1746504"/>
            <a:ext cx="3794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&amp; Deployment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846320" y="2121408"/>
            <a:ext cx="37947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C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46320" y="2121408"/>
            <a:ext cx="45720" cy="475488"/>
          </a:xfrm>
          <a:prstGeom prst="rect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974336" y="2157984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= 0.917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4974336" y="2377440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Year-2 independent test set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46320" y="2670048"/>
            <a:ext cx="37947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C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846320" y="2670048"/>
            <a:ext cx="45720" cy="47548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974336" y="2706624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50.7 W/m²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4974336" y="2926080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Daytime forecast error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846320" y="3218688"/>
            <a:ext cx="37947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CF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846320" y="3218688"/>
            <a:ext cx="45720" cy="47548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74336" y="3255264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63.6 W/m²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4974336" y="3474720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mean square error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846320" y="3794760"/>
            <a:ext cx="3794760" cy="438912"/>
          </a:xfrm>
          <a:prstGeom prst="rect">
            <a:avLst/>
          </a:prstGeom>
          <a:solidFill>
            <a:srgbClr val="E8F5E9"/>
          </a:solidFill>
          <a:ln w="12700">
            <a:solidFill>
              <a:srgbClr val="1A9E5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956048" y="384048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bias μ = +2.3 W/m² — </a:t>
            </a:r>
            <a:r>
              <a:rPr lang="en-US" sz="9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slight positive bias means no systematic under-prediction → voltage reference never under-positioned.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846320" y="4306824"/>
            <a:ext cx="3794760" cy="548640"/>
          </a:xfrm>
          <a:prstGeom prst="rect">
            <a:avLst/>
          </a:prstGeom>
          <a:solidFill>
            <a:srgbClr val="FEF9E7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956048" y="4352544"/>
            <a:ext cx="3611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9B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Int8 Quantisation Option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4956048" y="4535424"/>
            <a:ext cx="3611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4.7 ms vs 12 ms float32 — ΔR² = −0.009. Float32 retained to preserve fidelity within 100 ms UART budget.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8046720" y="489204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FAAB8"/>
                </a:solidFill>
              </a:rPr>
              <a:t>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1645920" cy="256032"/>
          </a:xfrm>
          <a:prstGeom prst="rect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SIMULATION MODEL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65760" y="603504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Sylhet Markov+OU Irradiance Model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225296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physical realism layers — parameterised from NASA POWER &amp; SREDA data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65760" y="1481328"/>
            <a:ext cx="8412480" cy="22860"/>
          </a:xfrm>
          <a:prstGeom prst="rect">
            <a:avLst/>
          </a:prstGeom>
          <a:solidFill>
            <a:srgbClr val="B8E0E0"/>
          </a:solidFill>
          <a:ln w="12700">
            <a:solidFill>
              <a:srgbClr val="B8E0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664208"/>
            <a:ext cx="4114800" cy="1627632"/>
          </a:xfrm>
          <a:prstGeom prst="rect">
            <a:avLst/>
          </a:prstGeom>
          <a:solidFill>
            <a:srgbClr val="F0F6FA"/>
          </a:solidFill>
          <a:ln w="12700">
            <a:solidFill>
              <a:srgbClr val="D4E4EE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664208"/>
            <a:ext cx="4114800" cy="4114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810512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60120" y="1792224"/>
            <a:ext cx="34015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 — Sub-Second OU Flicker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30352" y="2194560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Ornstein-Uhlenbeck process: τ = 1s, σ = 25%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from Lave &amp; Kleissl (2010) Colorado dataset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rapid cloud-edge irradiance fluctuations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modelled GHI: 744 W/m² (July, aerosol-capped)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754880" y="1664208"/>
            <a:ext cx="4114800" cy="1627632"/>
          </a:xfrm>
          <a:prstGeom prst="rect">
            <a:avLst/>
          </a:prstGeom>
          <a:solidFill>
            <a:srgbClr val="F0F6FA"/>
          </a:solidFill>
          <a:ln w="12700">
            <a:solidFill>
              <a:srgbClr val="D4E4EE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754880" y="1664208"/>
            <a:ext cx="4114800" cy="41148"/>
          </a:xfrm>
          <a:prstGeom prst="rect">
            <a:avLst/>
          </a:prstGeom>
          <a:solidFill>
            <a:srgbClr val="4A6B7A"/>
          </a:solidFill>
          <a:ln w="12700">
            <a:solidFill>
              <a:srgbClr val="4A6B7A"/>
            </a:solidFill>
            <a:prstDash val="solid"/>
          </a:ln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9472" y="1810512"/>
            <a:ext cx="347472" cy="34747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349240" y="1792224"/>
            <a:ext cx="34015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 — Aerosol / Haze Attenuation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4919472" y="2194560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 turbidity TL ≈ 4.5 (tropical humid)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Multiplicative factor ×0.93 on clear-sky GHI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Sylhet seasonal haze patterns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clear-sky peak from 800 to ~744 W/m²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365760" y="3383280"/>
            <a:ext cx="4114800" cy="1627632"/>
          </a:xfrm>
          <a:prstGeom prst="rect">
            <a:avLst/>
          </a:prstGeom>
          <a:solidFill>
            <a:srgbClr val="F0F6FA"/>
          </a:solidFill>
          <a:ln w="12700">
            <a:solidFill>
              <a:srgbClr val="D4E4EE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365760" y="3383280"/>
            <a:ext cx="4114800" cy="41148"/>
          </a:xfrm>
          <a:prstGeom prst="rect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3529584"/>
            <a:ext cx="347472" cy="34747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960120" y="3511296"/>
            <a:ext cx="34015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 — ADC Sensor Noise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530352" y="3913632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INA219 current noise: σ_I = 2 mA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Voltage noise: σ_V = 10 mV (incl. switching EMI)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to measurement inputs, not true MPP signal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MPPT robustness under realistic conditions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4754880" y="3383280"/>
            <a:ext cx="4114800" cy="1627632"/>
          </a:xfrm>
          <a:prstGeom prst="rect">
            <a:avLst/>
          </a:prstGeom>
          <a:solidFill>
            <a:srgbClr val="F0F6FA"/>
          </a:solidFill>
          <a:ln w="12700">
            <a:solidFill>
              <a:srgbClr val="D4E4EE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4754880" y="3383280"/>
            <a:ext cx="4114800" cy="41148"/>
          </a:xfrm>
          <a:prstGeom prst="rect">
            <a:avLst/>
          </a:prstGeom>
          <a:solidFill>
            <a:srgbClr val="1A9E5A"/>
          </a:solidFill>
          <a:ln w="12700">
            <a:solidFill>
              <a:srgbClr val="1A9E5A"/>
            </a:solidFill>
            <a:prstDash val="solid"/>
          </a:ln>
        </p:spPr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9472" y="3529584"/>
            <a:ext cx="347472" cy="347472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349240" y="3511296"/>
            <a:ext cx="34015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 — Panel Soiling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4919472" y="3913632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3% reduction on Isc (short-circuit current)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cleaning cycle modelled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Reflects realistic rural deployment maintenance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but cumulative efficiency effect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365760" y="4686300"/>
            <a:ext cx="8394192" cy="3429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502920" y="464515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Sylhet Monthly Parameters  (NASA POWER + SREDA)</a:t>
            </a:r>
            <a:endParaRPr lang="en-US" sz="1100" dirty="0"/>
          </a:p>
        </p:txBody>
      </p:sp>
      <p:sp>
        <p:nvSpPr>
          <p:cNvPr id="29" name="Text 23"/>
          <p:cNvSpPr/>
          <p:nvPr/>
        </p:nvSpPr>
        <p:spPr>
          <a:xfrm>
            <a:off x="8046720" y="489204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FAAB8"/>
                </a:solidFill>
              </a:rPr>
              <a:t>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1645920" cy="256032"/>
          </a:xfrm>
          <a:prstGeom prst="rect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SIMULATION MODEL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65760" y="603504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Sylhet Monthly Irradiance Parameters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225296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Parameterised from NASA POWER Level 3 data + SREDA Bangladesh Solar Atlas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65760" y="1481328"/>
            <a:ext cx="8412480" cy="22860"/>
          </a:xfrm>
          <a:prstGeom prst="rect">
            <a:avLst/>
          </a:prstGeom>
          <a:solidFill>
            <a:srgbClr val="B8E0E0"/>
          </a:solidFill>
          <a:ln w="12700">
            <a:solidFill>
              <a:srgbClr val="B8E0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719072"/>
            <a:ext cx="2011680" cy="420624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755648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377440" y="1719072"/>
            <a:ext cx="1069848" cy="420624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23160" y="1755648"/>
            <a:ext cx="9784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447288" y="1719072"/>
            <a:ext cx="1069848" cy="420624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93008" y="1755648"/>
            <a:ext cx="9784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17136" y="1719072"/>
            <a:ext cx="1069848" cy="420624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62856" y="1755648"/>
            <a:ext cx="9784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586984" y="1719072"/>
            <a:ext cx="1069848" cy="420624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32704" y="1755648"/>
            <a:ext cx="9784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656832" y="1719072"/>
            <a:ext cx="1069848" cy="420624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02552" y="1755648"/>
            <a:ext cx="9784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726680" y="1719072"/>
            <a:ext cx="1069848" cy="420624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0" y="1755648"/>
            <a:ext cx="9784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2139696"/>
            <a:ext cx="20116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217627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GHI (W/m²)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377440" y="2139696"/>
            <a:ext cx="10698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423160" y="2176272"/>
            <a:ext cx="9784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820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447288" y="2139696"/>
            <a:ext cx="10698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93008" y="2176272"/>
            <a:ext cx="9784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880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17136" y="2139696"/>
            <a:ext cx="1069848" cy="420624"/>
          </a:xfrm>
          <a:prstGeom prst="rect">
            <a:avLst/>
          </a:prstGeom>
          <a:solidFill>
            <a:srgbClr val="FFF3CD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62856" y="2176272"/>
            <a:ext cx="9784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B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580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586984" y="2139696"/>
            <a:ext cx="10698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32704" y="2176272"/>
            <a:ext cx="9784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650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656832" y="2139696"/>
            <a:ext cx="10698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02552" y="2176272"/>
            <a:ext cx="9784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780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726680" y="2139696"/>
            <a:ext cx="10698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772400" y="2176272"/>
            <a:ext cx="9784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2560320"/>
            <a:ext cx="2011680" cy="420624"/>
          </a:xfrm>
          <a:prstGeom prst="rect">
            <a:avLst/>
          </a:prstGeom>
          <a:solidFill>
            <a:srgbClr val="F0F6FA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1480" y="2596896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Variability Index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2377440" y="2560320"/>
            <a:ext cx="1069848" cy="420624"/>
          </a:xfrm>
          <a:prstGeom prst="rect">
            <a:avLst/>
          </a:prstGeom>
          <a:solidFill>
            <a:srgbClr val="F0F6FA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423160" y="2596896"/>
            <a:ext cx="9784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0.15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3447288" y="2560320"/>
            <a:ext cx="1069848" cy="420624"/>
          </a:xfrm>
          <a:prstGeom prst="rect">
            <a:avLst/>
          </a:prstGeom>
          <a:solidFill>
            <a:srgbClr val="F0F6FA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93008" y="2596896"/>
            <a:ext cx="9784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0.30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17136" y="2560320"/>
            <a:ext cx="1069848" cy="420624"/>
          </a:xfrm>
          <a:prstGeom prst="rect">
            <a:avLst/>
          </a:prstGeom>
          <a:solidFill>
            <a:srgbClr val="FFF3CD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62856" y="2596896"/>
            <a:ext cx="9784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0.85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5586984" y="2560320"/>
            <a:ext cx="1069848" cy="420624"/>
          </a:xfrm>
          <a:prstGeom prst="rect">
            <a:avLst/>
          </a:prstGeom>
          <a:solidFill>
            <a:srgbClr val="F0F6FA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632704" y="2596896"/>
            <a:ext cx="9784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0.65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6656832" y="2560320"/>
            <a:ext cx="1069848" cy="420624"/>
          </a:xfrm>
          <a:prstGeom prst="rect">
            <a:avLst/>
          </a:prstGeom>
          <a:solidFill>
            <a:srgbClr val="F0F6FA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702552" y="2596896"/>
            <a:ext cx="9784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0.30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7726680" y="2560320"/>
            <a:ext cx="1069848" cy="420624"/>
          </a:xfrm>
          <a:prstGeom prst="rect">
            <a:avLst/>
          </a:prstGeom>
          <a:solidFill>
            <a:srgbClr val="F0F6FA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772400" y="2596896"/>
            <a:ext cx="9784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0.15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65760" y="2980944"/>
            <a:ext cx="20116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11480" y="301752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Sunrise (hh:mm)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2377440" y="2980944"/>
            <a:ext cx="10698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423160" y="3017520"/>
            <a:ext cx="9784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06:18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447288" y="2980944"/>
            <a:ext cx="10698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493008" y="3017520"/>
            <a:ext cx="9784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05:36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4517136" y="2980944"/>
            <a:ext cx="1069848" cy="420624"/>
          </a:xfrm>
          <a:prstGeom prst="rect">
            <a:avLst/>
          </a:prstGeom>
          <a:solidFill>
            <a:srgbClr val="FFF3CD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62856" y="3017520"/>
            <a:ext cx="9784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B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05:18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5586984" y="2980944"/>
            <a:ext cx="10698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632704" y="3017520"/>
            <a:ext cx="9784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05:48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6656832" y="2980944"/>
            <a:ext cx="10698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702552" y="3017520"/>
            <a:ext cx="9784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06:00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7726680" y="2980944"/>
            <a:ext cx="10698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772400" y="3017520"/>
            <a:ext cx="9784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06:24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365760" y="3401568"/>
            <a:ext cx="2011680" cy="420624"/>
          </a:xfrm>
          <a:prstGeom prst="rect">
            <a:avLst/>
          </a:prstGeom>
          <a:solidFill>
            <a:srgbClr val="F0F6FA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11480" y="3438144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Sunset (hh:mm)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2377440" y="3401568"/>
            <a:ext cx="1069848" cy="420624"/>
          </a:xfrm>
          <a:prstGeom prst="rect">
            <a:avLst/>
          </a:prstGeom>
          <a:solidFill>
            <a:srgbClr val="F0F6FA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2423160" y="3438144"/>
            <a:ext cx="9784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17:24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3447288" y="3401568"/>
            <a:ext cx="1069848" cy="420624"/>
          </a:xfrm>
          <a:prstGeom prst="rect">
            <a:avLst/>
          </a:prstGeom>
          <a:solidFill>
            <a:srgbClr val="F0F6FA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493008" y="3438144"/>
            <a:ext cx="9784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18:36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4517136" y="3401568"/>
            <a:ext cx="1069848" cy="420624"/>
          </a:xfrm>
          <a:prstGeom prst="rect">
            <a:avLst/>
          </a:prstGeom>
          <a:solidFill>
            <a:srgbClr val="FFF3CD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562856" y="3438144"/>
            <a:ext cx="9784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B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19:06</a:t>
            </a:r>
            <a:endParaRPr lang="en-US" sz="1200" dirty="0"/>
          </a:p>
        </p:txBody>
      </p:sp>
      <p:sp>
        <p:nvSpPr>
          <p:cNvPr id="71" name="Shape 69"/>
          <p:cNvSpPr/>
          <p:nvPr/>
        </p:nvSpPr>
        <p:spPr>
          <a:xfrm>
            <a:off x="5586984" y="3401568"/>
            <a:ext cx="1069848" cy="420624"/>
          </a:xfrm>
          <a:prstGeom prst="rect">
            <a:avLst/>
          </a:prstGeom>
          <a:solidFill>
            <a:srgbClr val="F0F6FA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632704" y="3438144"/>
            <a:ext cx="9784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18:12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656832" y="3401568"/>
            <a:ext cx="1069848" cy="420624"/>
          </a:xfrm>
          <a:prstGeom prst="rect">
            <a:avLst/>
          </a:prstGeom>
          <a:solidFill>
            <a:srgbClr val="F0F6FA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702552" y="3438144"/>
            <a:ext cx="9784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17:36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7726680" y="3401568"/>
            <a:ext cx="1069848" cy="420624"/>
          </a:xfrm>
          <a:prstGeom prst="rect">
            <a:avLst/>
          </a:prstGeom>
          <a:solidFill>
            <a:srgbClr val="F0F6FA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772400" y="3438144"/>
            <a:ext cx="9784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17:06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65760" y="3822192"/>
            <a:ext cx="20116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11480" y="3858768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Daylight Hours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2377440" y="3822192"/>
            <a:ext cx="10698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2423160" y="3858768"/>
            <a:ext cx="9784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11.1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3447288" y="3822192"/>
            <a:ext cx="10698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3493008" y="3858768"/>
            <a:ext cx="9784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13.0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4517136" y="3822192"/>
            <a:ext cx="1069848" cy="420624"/>
          </a:xfrm>
          <a:prstGeom prst="rect">
            <a:avLst/>
          </a:prstGeom>
          <a:solidFill>
            <a:srgbClr val="FFF3CD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562856" y="3858768"/>
            <a:ext cx="9784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B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13.8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5586984" y="3822192"/>
            <a:ext cx="10698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632704" y="3858768"/>
            <a:ext cx="9784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12.4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6656832" y="3822192"/>
            <a:ext cx="10698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702552" y="3858768"/>
            <a:ext cx="9784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11.6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7726680" y="3822192"/>
            <a:ext cx="10698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772400" y="3858768"/>
            <a:ext cx="9784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10.7</a:t>
            </a:r>
            <a:endParaRPr lang="en-US" sz="1200" dirty="0"/>
          </a:p>
        </p:txBody>
      </p:sp>
      <p:sp>
        <p:nvSpPr>
          <p:cNvPr id="91" name="Shape 89"/>
          <p:cNvSpPr/>
          <p:nvPr/>
        </p:nvSpPr>
        <p:spPr>
          <a:xfrm>
            <a:off x="365760" y="3895344"/>
            <a:ext cx="8412480" cy="713232"/>
          </a:xfrm>
          <a:prstGeom prst="rect">
            <a:avLst/>
          </a:prstGeom>
          <a:solidFill>
            <a:srgbClr val="FFF8E7"/>
          </a:solidFill>
          <a:ln w="12700">
            <a:solidFill>
              <a:srgbClr val="E8A020"/>
            </a:solidFill>
            <a:prstDash val="solid"/>
          </a:ln>
        </p:spPr>
      </p:sp>
      <p:pic>
        <p:nvPicPr>
          <p:cNvPr id="9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005072"/>
            <a:ext cx="274320" cy="274320"/>
          </a:xfrm>
          <a:prstGeom prst="rect">
            <a:avLst/>
          </a:prstGeom>
        </p:spPr>
      </p:pic>
      <p:sp>
        <p:nvSpPr>
          <p:cNvPr id="93" name="Text 90"/>
          <p:cNvSpPr/>
          <p:nvPr/>
        </p:nvSpPr>
        <p:spPr>
          <a:xfrm>
            <a:off x="868680" y="3959352"/>
            <a:ext cx="7818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9B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is the most challenging month: </a:t>
            </a:r>
            <a:r>
              <a:rPr lang="en-US" sz="10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Variability Index (CVI) = 0.85 — highest cloud transient frequency. Peak GHI drops to 580 W/m² (vs 880 W/m² in April) due to cloud cover AND aerosol loading. This is where the 23.3 pp efficiency gain of Helios-Artemis over plain P&amp;O is most pronounced.</a:t>
            </a:r>
            <a:endParaRPr lang="en-US" sz="1050" dirty="0"/>
          </a:p>
        </p:txBody>
      </p:sp>
      <p:sp>
        <p:nvSpPr>
          <p:cNvPr id="94" name="Text 91"/>
          <p:cNvSpPr/>
          <p:nvPr/>
        </p:nvSpPr>
        <p:spPr>
          <a:xfrm>
            <a:off x="365760" y="468172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B8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 Model: Exact analytical MPP solution  Vmp_c = Voc_T · (1/(1+k))^(1/k)  ensures Ppv/Pm ≈ 1.00 at perfect tracking.  50 Wp mono-Si: Isc₀=2.91A post-soiling, k=14.26.</a:t>
            </a:r>
            <a:endParaRPr lang="en-US" sz="950" dirty="0"/>
          </a:p>
        </p:txBody>
      </p:sp>
      <p:sp>
        <p:nvSpPr>
          <p:cNvPr id="95" name="Text 92"/>
          <p:cNvSpPr/>
          <p:nvPr/>
        </p:nvSpPr>
        <p:spPr>
          <a:xfrm>
            <a:off x="8046720" y="489204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FAAB8"/>
                </a:solidFill>
              </a:rPr>
              <a:t>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1645920" cy="256032"/>
          </a:xfrm>
          <a:prstGeom prst="rect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RESULTS — LSTM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65760" y="603504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Predictor: Year-2 Independent Evaluation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225296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trained on Year-1; evaluated on Year-2 with distinct random seed — no data leakage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65760" y="1481328"/>
            <a:ext cx="8412480" cy="22860"/>
          </a:xfrm>
          <a:prstGeom prst="rect">
            <a:avLst/>
          </a:prstGeom>
          <a:solidFill>
            <a:srgbClr val="B8E0E0"/>
          </a:solidFill>
          <a:ln w="12700">
            <a:solidFill>
              <a:srgbClr val="B8E0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664208"/>
            <a:ext cx="2679192" cy="987552"/>
          </a:xfrm>
          <a:prstGeom prst="rect">
            <a:avLst/>
          </a:prstGeom>
          <a:solidFill>
            <a:srgbClr val="F0F6FA"/>
          </a:solidFill>
          <a:ln w="12700">
            <a:solidFill>
              <a:srgbClr val="D8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664208"/>
            <a:ext cx="50292" cy="987552"/>
          </a:xfrm>
          <a:prstGeom prst="rect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5488" y="1737360"/>
            <a:ext cx="2514600" cy="513527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2800" b="1" dirty="0">
                <a:solidFill>
                  <a:srgbClr val="0D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= 0.917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75488" y="2227113"/>
            <a:ext cx="2514600" cy="2765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Coefficient of Determination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75488" y="2474001"/>
            <a:ext cx="2514600" cy="1975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8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Year-2 test set (365 days)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27832" y="1664208"/>
            <a:ext cx="2679192" cy="987552"/>
          </a:xfrm>
          <a:prstGeom prst="rect">
            <a:avLst/>
          </a:prstGeom>
          <a:solidFill>
            <a:srgbClr val="F0F6FA"/>
          </a:solidFill>
          <a:ln w="12700">
            <a:solidFill>
              <a:srgbClr val="D8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27832" y="1664208"/>
            <a:ext cx="50292" cy="987552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37560" y="1737360"/>
            <a:ext cx="2514600" cy="513527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2800" b="1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50.7 W/m²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3337560" y="2227113"/>
            <a:ext cx="2514600" cy="2765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Daytime MAE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337560" y="2474001"/>
            <a:ext cx="2514600" cy="1975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8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Absolute Error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089904" y="1664208"/>
            <a:ext cx="2679192" cy="987552"/>
          </a:xfrm>
          <a:prstGeom prst="rect">
            <a:avLst/>
          </a:prstGeom>
          <a:solidFill>
            <a:srgbClr val="F0F6FA"/>
          </a:solidFill>
          <a:ln w="12700">
            <a:solidFill>
              <a:srgbClr val="D8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9904" y="1664208"/>
            <a:ext cx="50292" cy="987552"/>
          </a:xfrm>
          <a:prstGeom prst="rect">
            <a:avLst/>
          </a:prstGeom>
          <a:solidFill>
            <a:srgbClr val="1A9E5A"/>
          </a:solidFill>
          <a:ln w="12700">
            <a:solidFill>
              <a:srgbClr val="1A9E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99632" y="1737360"/>
            <a:ext cx="2514600" cy="513527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2800" b="1" dirty="0">
                <a:solidFill>
                  <a:srgbClr val="1A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+2.3 W/m²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6199632" y="2227113"/>
            <a:ext cx="2514600" cy="2765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Bias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99632" y="2474001"/>
            <a:ext cx="2514600" cy="1975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8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Slight positive — no under-prediction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65760" y="2788920"/>
            <a:ext cx="4937760" cy="2121408"/>
          </a:xfrm>
          <a:prstGeom prst="rect">
            <a:avLst/>
          </a:prstGeom>
          <a:solidFill>
            <a:srgbClr val="F0F6FA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283464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Architecture Ablation Study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38912" y="3172968"/>
            <a:ext cx="1481328" cy="365760"/>
          </a:xfrm>
          <a:prstGeom prst="rect">
            <a:avLst/>
          </a:prstGeom>
          <a:solidFill>
            <a:srgbClr val="0D8A8A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5488" y="3191256"/>
            <a:ext cx="140817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920240" y="3172968"/>
            <a:ext cx="502920" cy="365760"/>
          </a:xfrm>
          <a:prstGeom prst="rect">
            <a:avLst/>
          </a:prstGeom>
          <a:solidFill>
            <a:srgbClr val="0D8A8A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56816" y="3191256"/>
            <a:ext cx="429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423160" y="3172968"/>
            <a:ext cx="749808" cy="365760"/>
          </a:xfrm>
          <a:prstGeom prst="rect">
            <a:avLst/>
          </a:prstGeom>
          <a:solidFill>
            <a:srgbClr val="0D8A8A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459736" y="3191256"/>
            <a:ext cx="6766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(W/m²)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172968" y="3172968"/>
            <a:ext cx="777240" cy="365760"/>
          </a:xfrm>
          <a:prstGeom prst="rect">
            <a:avLst/>
          </a:prstGeom>
          <a:solidFill>
            <a:srgbClr val="0D8A8A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09544" y="3191256"/>
            <a:ext cx="7040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(W/m²)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950208" y="3172968"/>
            <a:ext cx="640080" cy="365760"/>
          </a:xfrm>
          <a:prstGeom prst="rect">
            <a:avLst/>
          </a:prstGeom>
          <a:solidFill>
            <a:srgbClr val="0D8A8A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986784" y="3191256"/>
            <a:ext cx="56692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590288" y="3172968"/>
            <a:ext cx="640080" cy="365760"/>
          </a:xfrm>
          <a:prstGeom prst="rect">
            <a:avLst/>
          </a:prstGeom>
          <a:solidFill>
            <a:srgbClr val="0D8A8A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626864" y="3191256"/>
            <a:ext cx="56692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38912" y="3575304"/>
            <a:ext cx="1481328" cy="365760"/>
          </a:xfrm>
          <a:prstGeom prst="rect">
            <a:avLst/>
          </a:prstGeom>
          <a:solidFill>
            <a:srgbClr val="F0F6FA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75488" y="3593592"/>
            <a:ext cx="140817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units, 1 layer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920240" y="3575304"/>
            <a:ext cx="502920" cy="365760"/>
          </a:xfrm>
          <a:prstGeom prst="rect">
            <a:avLst/>
          </a:prstGeom>
          <a:solidFill>
            <a:srgbClr val="F0F6FA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956816" y="3593592"/>
            <a:ext cx="429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0.858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2423160" y="3575304"/>
            <a:ext cx="749808" cy="365760"/>
          </a:xfrm>
          <a:prstGeom prst="rect">
            <a:avLst/>
          </a:prstGeom>
          <a:solidFill>
            <a:srgbClr val="F0F6FA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459736" y="3593592"/>
            <a:ext cx="6766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67.1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172968" y="3575304"/>
            <a:ext cx="777240" cy="365760"/>
          </a:xfrm>
          <a:prstGeom prst="rect">
            <a:avLst/>
          </a:prstGeom>
          <a:solidFill>
            <a:srgbClr val="F0F6FA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09544" y="3593592"/>
            <a:ext cx="7040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83.3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50208" y="3575304"/>
            <a:ext cx="640080" cy="365760"/>
          </a:xfrm>
          <a:prstGeom prst="rect">
            <a:avLst/>
          </a:prstGeom>
          <a:solidFill>
            <a:srgbClr val="F0F6FA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86784" y="3593592"/>
            <a:ext cx="56692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 ms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590288" y="3575304"/>
            <a:ext cx="640080" cy="365760"/>
          </a:xfrm>
          <a:prstGeom prst="rect">
            <a:avLst/>
          </a:prstGeom>
          <a:solidFill>
            <a:srgbClr val="F0F6FA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626864" y="3593592"/>
            <a:ext cx="56692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~1,900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38912" y="3977640"/>
            <a:ext cx="1481328" cy="365760"/>
          </a:xfrm>
          <a:prstGeom prst="rect">
            <a:avLst/>
          </a:prstGeom>
          <a:solidFill>
            <a:srgbClr val="D5EEF5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5488" y="3995928"/>
            <a:ext cx="140817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9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units, 1 layer ✓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1920240" y="3977640"/>
            <a:ext cx="502920" cy="365760"/>
          </a:xfrm>
          <a:prstGeom prst="rect">
            <a:avLst/>
          </a:prstGeom>
          <a:solidFill>
            <a:srgbClr val="D5EEF5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956816" y="3995928"/>
            <a:ext cx="429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9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0.917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423160" y="3977640"/>
            <a:ext cx="749808" cy="365760"/>
          </a:xfrm>
          <a:prstGeom prst="rect">
            <a:avLst/>
          </a:prstGeom>
          <a:solidFill>
            <a:srgbClr val="D5EEF5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459736" y="3995928"/>
            <a:ext cx="6766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9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50.7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172968" y="3977640"/>
            <a:ext cx="777240" cy="365760"/>
          </a:xfrm>
          <a:prstGeom prst="rect">
            <a:avLst/>
          </a:prstGeom>
          <a:solidFill>
            <a:srgbClr val="D5EEF5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209544" y="3995928"/>
            <a:ext cx="7040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9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63.6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950208" y="3977640"/>
            <a:ext cx="640080" cy="365760"/>
          </a:xfrm>
          <a:prstGeom prst="rect">
            <a:avLst/>
          </a:prstGeom>
          <a:solidFill>
            <a:srgbClr val="D5EEF5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986784" y="3995928"/>
            <a:ext cx="56692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9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ms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590288" y="3977640"/>
            <a:ext cx="640080" cy="365760"/>
          </a:xfrm>
          <a:prstGeom prst="rect">
            <a:avLst/>
          </a:prstGeom>
          <a:solidFill>
            <a:srgbClr val="D5EEF5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626864" y="3995928"/>
            <a:ext cx="56692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9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7,329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38912" y="4379976"/>
            <a:ext cx="1481328" cy="365760"/>
          </a:xfrm>
          <a:prstGeom prst="rect">
            <a:avLst/>
          </a:prstGeom>
          <a:solidFill>
            <a:srgbClr val="F0F6FA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75488" y="4398264"/>
            <a:ext cx="140817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units, 1 layer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1920240" y="4379976"/>
            <a:ext cx="502920" cy="365760"/>
          </a:xfrm>
          <a:prstGeom prst="rect">
            <a:avLst/>
          </a:prstGeom>
          <a:solidFill>
            <a:srgbClr val="F0F6FA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956816" y="4398264"/>
            <a:ext cx="429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0.934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2423160" y="4379976"/>
            <a:ext cx="749808" cy="365760"/>
          </a:xfrm>
          <a:prstGeom prst="rect">
            <a:avLst/>
          </a:prstGeom>
          <a:solidFill>
            <a:srgbClr val="F0F6FA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459736" y="4398264"/>
            <a:ext cx="6766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45.0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3172968" y="4379976"/>
            <a:ext cx="777240" cy="365760"/>
          </a:xfrm>
          <a:prstGeom prst="rect">
            <a:avLst/>
          </a:prstGeom>
          <a:solidFill>
            <a:srgbClr val="F0F6FA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209544" y="4398264"/>
            <a:ext cx="7040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56.6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3950208" y="4379976"/>
            <a:ext cx="640080" cy="365760"/>
          </a:xfrm>
          <a:prstGeom prst="rect">
            <a:avLst/>
          </a:prstGeom>
          <a:solidFill>
            <a:srgbClr val="F0F6FA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986784" y="4398264"/>
            <a:ext cx="56692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~37 ms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4590288" y="4379976"/>
            <a:ext cx="640080" cy="365760"/>
          </a:xfrm>
          <a:prstGeom prst="rect">
            <a:avLst/>
          </a:prstGeom>
          <a:solidFill>
            <a:srgbClr val="F0F6FA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626864" y="4398264"/>
            <a:ext cx="56692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22,849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502920" y="4681728"/>
            <a:ext cx="4663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0D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Selected — optimal Pareto point: best R² within 12 ms inference budget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5486400" y="2788920"/>
            <a:ext cx="3291840" cy="2121408"/>
          </a:xfrm>
          <a:prstGeom prst="rect">
            <a:avLst/>
          </a:prstGeom>
          <a:solidFill>
            <a:srgbClr val="F0F6FA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623560" y="283464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 Sensitivity Analysis</a:t>
            </a:r>
            <a:endParaRPr lang="en-US" sz="1250" dirty="0"/>
          </a:p>
        </p:txBody>
      </p:sp>
      <p:sp>
        <p:nvSpPr>
          <p:cNvPr id="75" name="Shape 73"/>
          <p:cNvSpPr/>
          <p:nvPr/>
        </p:nvSpPr>
        <p:spPr>
          <a:xfrm>
            <a:off x="5596128" y="3200400"/>
            <a:ext cx="3072384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5596128" y="3200400"/>
            <a:ext cx="54864" cy="47548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5705856" y="321868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 &lt; 0.20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5705856" y="340156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Under-blend zone</a:t>
            </a:r>
            <a:endParaRPr lang="en-US" sz="850" dirty="0"/>
          </a:p>
        </p:txBody>
      </p:sp>
      <p:sp>
        <p:nvSpPr>
          <p:cNvPr id="79" name="Text 77"/>
          <p:cNvSpPr/>
          <p:nvPr/>
        </p:nvSpPr>
        <p:spPr>
          <a:xfrm>
            <a:off x="6748272" y="3218688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under-weighted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0.8–2.5 pp gain only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5596128" y="3730752"/>
            <a:ext cx="3072384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5A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5596128" y="3730752"/>
            <a:ext cx="54864" cy="475488"/>
          </a:xfrm>
          <a:prstGeom prst="rect">
            <a:avLst/>
          </a:prstGeom>
          <a:solidFill>
            <a:srgbClr val="1A9E5A"/>
          </a:solidFill>
          <a:ln w="12700">
            <a:solidFill>
              <a:srgbClr val="1A9E5A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705856" y="374904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 0.20–0.55</a:t>
            </a:r>
            <a:endParaRPr lang="en-US" sz="1050" dirty="0"/>
          </a:p>
        </p:txBody>
      </p:sp>
      <p:sp>
        <p:nvSpPr>
          <p:cNvPr id="83" name="Text 81"/>
          <p:cNvSpPr/>
          <p:nvPr/>
        </p:nvSpPr>
        <p:spPr>
          <a:xfrm>
            <a:off x="5705856" y="393192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plateau ✓</a:t>
            </a:r>
            <a:endParaRPr lang="en-US" sz="850" dirty="0"/>
          </a:p>
        </p:txBody>
      </p:sp>
      <p:sp>
        <p:nvSpPr>
          <p:cNvPr id="84" name="Text 82"/>
          <p:cNvSpPr/>
          <p:nvPr/>
        </p:nvSpPr>
        <p:spPr>
          <a:xfrm>
            <a:off x="6748272" y="37490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 operation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5.5–6.2 pp clear, 23.6–24.4 pp monsoon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5596128" y="4261104"/>
            <a:ext cx="3072384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596128" y="4261104"/>
            <a:ext cx="54864" cy="47548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5705856" y="427939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 &gt; 0.60</a:t>
            </a:r>
            <a:endParaRPr lang="en-US" sz="1050" dirty="0"/>
          </a:p>
        </p:txBody>
      </p:sp>
      <p:sp>
        <p:nvSpPr>
          <p:cNvPr id="88" name="Text 86"/>
          <p:cNvSpPr/>
          <p:nvPr/>
        </p:nvSpPr>
        <p:spPr>
          <a:xfrm>
            <a:off x="5705856" y="446227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Over-blend zone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6748272" y="427939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errors dominate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falls</a:t>
            </a:r>
            <a:endParaRPr lang="en-US" sz="850" dirty="0"/>
          </a:p>
        </p:txBody>
      </p:sp>
      <p:sp>
        <p:nvSpPr>
          <p:cNvPr id="90" name="Text 88"/>
          <p:cNvSpPr/>
          <p:nvPr/>
        </p:nvSpPr>
        <p:spPr>
          <a:xfrm>
            <a:off x="5596128" y="4663440"/>
            <a:ext cx="30723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i="1" dirty="0">
                <a:solidFill>
                  <a:srgbClr val="0D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 α = 0.35  ·  Plateau Δα = 0.35  ·  Robust to ±50% variation</a:t>
            </a:r>
            <a:endParaRPr lang="en-US" sz="900" dirty="0"/>
          </a:p>
        </p:txBody>
      </p:sp>
      <p:sp>
        <p:nvSpPr>
          <p:cNvPr id="91" name="Text 89"/>
          <p:cNvSpPr/>
          <p:nvPr/>
        </p:nvSpPr>
        <p:spPr>
          <a:xfrm>
            <a:off x="8046720" y="489204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FAAB8"/>
                </a:solidFill>
              </a:rPr>
              <a:t>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1645920" cy="256032"/>
          </a:xfrm>
          <a:prstGeom prst="rect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RESULTS — MPPT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65760" y="603504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MPPT Tracking Efficiency: Full Comparison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225296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Carlo N=200 per scenario — Sylhet parameterised conditions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65760" y="1481328"/>
            <a:ext cx="8412480" cy="22860"/>
          </a:xfrm>
          <a:prstGeom prst="rect">
            <a:avLst/>
          </a:prstGeom>
          <a:solidFill>
            <a:srgbClr val="B8E0E0"/>
          </a:solidFill>
          <a:ln w="12700">
            <a:solidFill>
              <a:srgbClr val="B8E0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664208"/>
            <a:ext cx="2011680" cy="914400"/>
          </a:xfrm>
          <a:prstGeom prst="rect">
            <a:avLst/>
          </a:prstGeom>
          <a:solidFill>
            <a:srgbClr val="F0F6FA"/>
          </a:solidFill>
          <a:ln w="12700">
            <a:solidFill>
              <a:srgbClr val="D8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664208"/>
            <a:ext cx="50292" cy="914400"/>
          </a:xfrm>
          <a:prstGeom prst="rect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5488" y="1737360"/>
            <a:ext cx="1847088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2200" b="1" dirty="0">
                <a:solidFill>
                  <a:srgbClr val="0D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94.0%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75488" y="2185416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Monsoon efficiency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75488" y="2414016"/>
            <a:ext cx="1847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8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Monte Carlo mean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542032" y="1664208"/>
            <a:ext cx="2011680" cy="914400"/>
          </a:xfrm>
          <a:prstGeom prst="rect">
            <a:avLst/>
          </a:prstGeom>
          <a:solidFill>
            <a:srgbClr val="F0F6FA"/>
          </a:solidFill>
          <a:ln w="12700">
            <a:solidFill>
              <a:srgbClr val="D8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42032" y="1664208"/>
            <a:ext cx="50292" cy="914400"/>
          </a:xfrm>
          <a:prstGeom prst="rect">
            <a:avLst/>
          </a:prstGeom>
          <a:solidFill>
            <a:srgbClr val="4A6B7A"/>
          </a:solidFill>
          <a:ln w="12700">
            <a:solidFill>
              <a:srgbClr val="4A6B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737360"/>
            <a:ext cx="1847088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2200" b="1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±0.6%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651760" y="2185416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 deviation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651760" y="2414016"/>
            <a:ext cx="1847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8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across 30 July days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18304" y="1664208"/>
            <a:ext cx="2011680" cy="914400"/>
          </a:xfrm>
          <a:prstGeom prst="rect">
            <a:avLst/>
          </a:prstGeom>
          <a:solidFill>
            <a:srgbClr val="F0F6FA"/>
          </a:solidFill>
          <a:ln w="12700">
            <a:solidFill>
              <a:srgbClr val="D8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8304" y="1664208"/>
            <a:ext cx="50292" cy="914400"/>
          </a:xfrm>
          <a:prstGeom prst="rect">
            <a:avLst/>
          </a:prstGeom>
          <a:solidFill>
            <a:srgbClr val="1A9E5A"/>
          </a:solidFill>
          <a:ln w="12700">
            <a:solidFill>
              <a:srgbClr val="1A9E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28032" y="1737360"/>
            <a:ext cx="1847088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2200" b="1" dirty="0">
                <a:solidFill>
                  <a:srgbClr val="1A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+23.3pp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4828032" y="2185416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 over P&amp;O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828032" y="2414016"/>
            <a:ext cx="1847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8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70.7% → 94.0%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894576" y="1664208"/>
            <a:ext cx="2011680" cy="914400"/>
          </a:xfrm>
          <a:prstGeom prst="rect">
            <a:avLst/>
          </a:prstGeom>
          <a:solidFill>
            <a:srgbClr val="F0F6FA"/>
          </a:solidFill>
          <a:ln w="12700">
            <a:solidFill>
              <a:srgbClr val="D8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94576" y="1664208"/>
            <a:ext cx="50292" cy="914400"/>
          </a:xfrm>
          <a:prstGeom prst="rect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04304" y="1737360"/>
            <a:ext cx="1847088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2200" b="1" dirty="0">
                <a:solidFill>
                  <a:srgbClr val="0D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91.3%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7004304" y="2185416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mean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04304" y="2414016"/>
            <a:ext cx="1847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8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across seasons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10197" y="2578608"/>
            <a:ext cx="8412480" cy="2286000"/>
          </a:xfrm>
          <a:prstGeom prst="rect">
            <a:avLst/>
          </a:prstGeom>
          <a:solidFill>
            <a:srgbClr val="F0F6FA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2356" y="265176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Efficiency Table — All Scenarios and Methods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475488" y="2884932"/>
            <a:ext cx="1645920" cy="402336"/>
          </a:xfrm>
          <a:prstGeom prst="rect">
            <a:avLst/>
          </a:prstGeom>
          <a:solidFill>
            <a:srgbClr val="0B1F3A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12064" y="2903220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121408" y="2884932"/>
            <a:ext cx="1280160" cy="402336"/>
          </a:xfrm>
          <a:prstGeom prst="rect">
            <a:avLst/>
          </a:prstGeom>
          <a:solidFill>
            <a:srgbClr val="0B1F3A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157984" y="2903220"/>
            <a:ext cx="12070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P&amp;O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401568" y="2884932"/>
            <a:ext cx="1417320" cy="402336"/>
          </a:xfrm>
          <a:prstGeom prst="rect">
            <a:avLst/>
          </a:prstGeom>
          <a:solidFill>
            <a:srgbClr val="0B1F3A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438144" y="2903220"/>
            <a:ext cx="1344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Variable-Step P&amp;O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818888" y="2884932"/>
            <a:ext cx="1417320" cy="402336"/>
          </a:xfrm>
          <a:prstGeom prst="rect">
            <a:avLst/>
          </a:prstGeom>
          <a:solidFill>
            <a:srgbClr val="0B1F3A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55464" y="2903220"/>
            <a:ext cx="1344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Cond.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236208" y="2884932"/>
            <a:ext cx="1828800" cy="402336"/>
          </a:xfrm>
          <a:prstGeom prst="rect">
            <a:avLst/>
          </a:prstGeom>
          <a:solidFill>
            <a:srgbClr val="0B1F3A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272784" y="2903220"/>
            <a:ext cx="175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Helios-Artemis (this work)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8065008" y="2884932"/>
            <a:ext cx="822960" cy="402336"/>
          </a:xfrm>
          <a:prstGeom prst="rect">
            <a:avLst/>
          </a:prstGeom>
          <a:solidFill>
            <a:srgbClr val="0B1F3A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101584" y="2903220"/>
            <a:ext cx="7498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 vs P&amp;O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75488" y="3323844"/>
            <a:ext cx="1645920" cy="402336"/>
          </a:xfrm>
          <a:prstGeom prst="rect">
            <a:avLst/>
          </a:prstGeom>
          <a:solidFill>
            <a:srgbClr val="F0F6FA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12064" y="3342132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Day (Jan)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2121408" y="3323844"/>
            <a:ext cx="1280160" cy="402336"/>
          </a:xfrm>
          <a:prstGeom prst="rect">
            <a:avLst/>
          </a:prstGeom>
          <a:solidFill>
            <a:srgbClr val="F0F6FA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157984" y="3342132"/>
            <a:ext cx="12070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86.8 ± 1.7%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3401568" y="3323844"/>
            <a:ext cx="1417320" cy="402336"/>
          </a:xfrm>
          <a:prstGeom prst="rect">
            <a:avLst/>
          </a:prstGeom>
          <a:solidFill>
            <a:srgbClr val="F0F6FA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38144" y="3342132"/>
            <a:ext cx="1344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90.5 ± 1.5%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818888" y="3323844"/>
            <a:ext cx="1417320" cy="402336"/>
          </a:xfrm>
          <a:prstGeom prst="rect">
            <a:avLst/>
          </a:prstGeom>
          <a:solidFill>
            <a:srgbClr val="F0F6FA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3342132"/>
            <a:ext cx="1344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89.2 ± 1.7%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236208" y="3323844"/>
            <a:ext cx="1828800" cy="402336"/>
          </a:xfrm>
          <a:prstGeom prst="rect">
            <a:avLst/>
          </a:prstGeom>
          <a:solidFill>
            <a:srgbClr val="E8F5E9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272784" y="3342132"/>
            <a:ext cx="175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93.2 ± 1.1%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8065008" y="3323844"/>
            <a:ext cx="822960" cy="402336"/>
          </a:xfrm>
          <a:prstGeom prst="rect">
            <a:avLst/>
          </a:prstGeom>
          <a:solidFill>
            <a:srgbClr val="F0F6FA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101584" y="3342132"/>
            <a:ext cx="7498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A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+6.4 pp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475488" y="3762756"/>
            <a:ext cx="1645920" cy="402336"/>
          </a:xfrm>
          <a:prstGeom prst="rect">
            <a:avLst/>
          </a:prstGeom>
          <a:solidFill>
            <a:srgbClr val="FFF3CD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2064" y="3781044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Monsoon (Jul) ⚡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2121408" y="3762756"/>
            <a:ext cx="1280160" cy="402336"/>
          </a:xfrm>
          <a:prstGeom prst="rect">
            <a:avLst/>
          </a:prstGeom>
          <a:solidFill>
            <a:srgbClr val="FFF3CD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157984" y="3781044"/>
            <a:ext cx="12070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70.9 ± 3.8%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3401568" y="3762756"/>
            <a:ext cx="1417320" cy="402336"/>
          </a:xfrm>
          <a:prstGeom prst="rect">
            <a:avLst/>
          </a:prstGeom>
          <a:solidFill>
            <a:srgbClr val="FFF3CD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438144" y="3781044"/>
            <a:ext cx="1344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78.3 ± 3.4%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4818888" y="3762756"/>
            <a:ext cx="1417320" cy="402336"/>
          </a:xfrm>
          <a:prstGeom prst="rect">
            <a:avLst/>
          </a:prstGeom>
          <a:solidFill>
            <a:srgbClr val="FFF3CD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855464" y="3781044"/>
            <a:ext cx="1344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75.2 ± 3.8%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6236208" y="3762756"/>
            <a:ext cx="1828800" cy="402336"/>
          </a:xfrm>
          <a:prstGeom prst="rect">
            <a:avLst/>
          </a:prstGeom>
          <a:solidFill>
            <a:srgbClr val="C8F0E8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272784" y="3781044"/>
            <a:ext cx="175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9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95.1 ± 2.1%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8065008" y="3762756"/>
            <a:ext cx="822960" cy="402336"/>
          </a:xfrm>
          <a:prstGeom prst="rect">
            <a:avLst/>
          </a:prstGeom>
          <a:solidFill>
            <a:srgbClr val="FFF3CD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101584" y="3781044"/>
            <a:ext cx="7498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A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+24.2 pp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475488" y="4201668"/>
            <a:ext cx="1645920" cy="402336"/>
          </a:xfrm>
          <a:prstGeom prst="rect">
            <a:avLst/>
          </a:prstGeom>
          <a:solidFill>
            <a:srgbClr val="F0F6FA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2064" y="4219956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Shading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2121408" y="4201668"/>
            <a:ext cx="1280160" cy="402336"/>
          </a:xfrm>
          <a:prstGeom prst="rect">
            <a:avLst/>
          </a:prstGeom>
          <a:solidFill>
            <a:srgbClr val="F0F6FA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2157984" y="4219956"/>
            <a:ext cx="12070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85.6 ± 2.4%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3401568" y="4201668"/>
            <a:ext cx="1417320" cy="402336"/>
          </a:xfrm>
          <a:prstGeom prst="rect">
            <a:avLst/>
          </a:prstGeom>
          <a:solidFill>
            <a:srgbClr val="F0F6FA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3438144" y="4219956"/>
            <a:ext cx="1344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89.0 ± 2.0%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4818888" y="4201668"/>
            <a:ext cx="1417320" cy="402336"/>
          </a:xfrm>
          <a:prstGeom prst="rect">
            <a:avLst/>
          </a:prstGeom>
          <a:solidFill>
            <a:srgbClr val="F0F6FA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855464" y="4219956"/>
            <a:ext cx="1344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87.5 ± 2.1%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6236208" y="4201668"/>
            <a:ext cx="1828800" cy="402336"/>
          </a:xfrm>
          <a:prstGeom prst="rect">
            <a:avLst/>
          </a:prstGeom>
          <a:solidFill>
            <a:srgbClr val="E8F5E9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272784" y="4219956"/>
            <a:ext cx="175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93.3 ± 1.6%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8065008" y="4201668"/>
            <a:ext cx="822960" cy="402336"/>
          </a:xfrm>
          <a:prstGeom prst="rect">
            <a:avLst/>
          </a:prstGeom>
          <a:solidFill>
            <a:srgbClr val="F0F6FA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8101584" y="4219956"/>
            <a:ext cx="7498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A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+7.7 pp</a:t>
            </a:r>
            <a:endParaRPr lang="en-US" sz="950" dirty="0"/>
          </a:p>
        </p:txBody>
      </p:sp>
      <p:sp>
        <p:nvSpPr>
          <p:cNvPr id="77" name="Shape 75"/>
          <p:cNvSpPr/>
          <p:nvPr/>
        </p:nvSpPr>
        <p:spPr>
          <a:xfrm>
            <a:off x="475488" y="4640580"/>
            <a:ext cx="164592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512064" y="4658868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Mean</a:t>
            </a:r>
            <a:endParaRPr lang="en-US" sz="950" dirty="0"/>
          </a:p>
        </p:txBody>
      </p:sp>
      <p:sp>
        <p:nvSpPr>
          <p:cNvPr id="79" name="Shape 77"/>
          <p:cNvSpPr/>
          <p:nvPr/>
        </p:nvSpPr>
        <p:spPr>
          <a:xfrm>
            <a:off x="2121408" y="4640580"/>
            <a:ext cx="128016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2157984" y="4658868"/>
            <a:ext cx="12070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85.8 ± 1.5%</a:t>
            </a:r>
            <a:endParaRPr lang="en-US" sz="950" dirty="0"/>
          </a:p>
        </p:txBody>
      </p:sp>
      <p:sp>
        <p:nvSpPr>
          <p:cNvPr id="81" name="Shape 79"/>
          <p:cNvSpPr/>
          <p:nvPr/>
        </p:nvSpPr>
        <p:spPr>
          <a:xfrm>
            <a:off x="3401568" y="4640580"/>
            <a:ext cx="141732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3438144" y="4658868"/>
            <a:ext cx="1344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89.1 ± 1.2%</a:t>
            </a:r>
            <a:endParaRPr lang="en-US" sz="950" dirty="0"/>
          </a:p>
        </p:txBody>
      </p:sp>
      <p:sp>
        <p:nvSpPr>
          <p:cNvPr id="83" name="Shape 81"/>
          <p:cNvSpPr/>
          <p:nvPr/>
        </p:nvSpPr>
        <p:spPr>
          <a:xfrm>
            <a:off x="4818888" y="4640580"/>
            <a:ext cx="141732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855464" y="4658868"/>
            <a:ext cx="1344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87.7 ± 1.3%</a:t>
            </a:r>
            <a:endParaRPr lang="en-US" sz="950" dirty="0"/>
          </a:p>
        </p:txBody>
      </p:sp>
      <p:sp>
        <p:nvSpPr>
          <p:cNvPr id="85" name="Shape 83"/>
          <p:cNvSpPr/>
          <p:nvPr/>
        </p:nvSpPr>
        <p:spPr>
          <a:xfrm>
            <a:off x="6236208" y="4640580"/>
            <a:ext cx="1828800" cy="402336"/>
          </a:xfrm>
          <a:prstGeom prst="rect">
            <a:avLst/>
          </a:prstGeom>
          <a:solidFill>
            <a:srgbClr val="E8F5E9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272784" y="4658868"/>
            <a:ext cx="175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91.3 ± 1.0%</a:t>
            </a:r>
            <a:endParaRPr lang="en-US" sz="950" dirty="0"/>
          </a:p>
        </p:txBody>
      </p:sp>
      <p:sp>
        <p:nvSpPr>
          <p:cNvPr id="87" name="Shape 85"/>
          <p:cNvSpPr/>
          <p:nvPr/>
        </p:nvSpPr>
        <p:spPr>
          <a:xfrm>
            <a:off x="8065008" y="4640580"/>
            <a:ext cx="82296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101584" y="4658868"/>
            <a:ext cx="7498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A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+5.5 pp</a:t>
            </a:r>
            <a:endParaRPr lang="en-US" sz="950" dirty="0"/>
          </a:p>
        </p:txBody>
      </p:sp>
      <p:sp>
        <p:nvSpPr>
          <p:cNvPr id="89" name="Text 87"/>
          <p:cNvSpPr/>
          <p:nvPr/>
        </p:nvSpPr>
        <p:spPr>
          <a:xfrm>
            <a:off x="402336" y="482346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8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CI (July, 30-day Monte Carlo): [92.9%, 94.9%] — All 30 days within 90–95% efficiency band</a:t>
            </a:r>
            <a:endParaRPr lang="en-US" sz="1000" dirty="0"/>
          </a:p>
        </p:txBody>
      </p:sp>
      <p:sp>
        <p:nvSpPr>
          <p:cNvPr id="90" name="Text 88"/>
          <p:cNvSpPr/>
          <p:nvPr/>
        </p:nvSpPr>
        <p:spPr>
          <a:xfrm>
            <a:off x="8083296" y="4668012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FAAB8"/>
                </a:solidFill>
              </a:rPr>
              <a:t>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1645920" cy="256032"/>
          </a:xfrm>
          <a:prstGeom prst="rect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RESULTS — FULL-DAY SIM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65760" y="603504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Representative July Day Simulation (Seed 23)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225296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key telemetry channels — Sylhet monsoon worst-case conditions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65760" y="1481328"/>
            <a:ext cx="8412480" cy="22860"/>
          </a:xfrm>
          <a:prstGeom prst="rect">
            <a:avLst/>
          </a:prstGeom>
          <a:solidFill>
            <a:srgbClr val="B8E0E0"/>
          </a:solidFill>
          <a:ln w="12700">
            <a:solidFill>
              <a:srgbClr val="B8E0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664208"/>
            <a:ext cx="2697480" cy="1444752"/>
          </a:xfrm>
          <a:prstGeom prst="rect">
            <a:avLst/>
          </a:prstGeom>
          <a:solidFill>
            <a:srgbClr val="F0F6FA"/>
          </a:solidFill>
          <a:ln w="12700">
            <a:solidFill>
              <a:srgbClr val="D4E4EE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664208"/>
            <a:ext cx="2697480" cy="36576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1664208"/>
            <a:ext cx="36576" cy="1444752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" y="1755648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Irradiance (GHI)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93776" y="2066544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744 W/m²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93776" y="2743200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8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Aerosol-capped; sub-second OU flicker active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27832" y="1664208"/>
            <a:ext cx="2697480" cy="1444752"/>
          </a:xfrm>
          <a:prstGeom prst="rect">
            <a:avLst/>
          </a:prstGeom>
          <a:solidFill>
            <a:srgbClr val="F0F6FA"/>
          </a:solidFill>
          <a:ln w="12700">
            <a:solidFill>
              <a:srgbClr val="D4E4EE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27832" y="1664208"/>
            <a:ext cx="2697480" cy="36576"/>
          </a:xfrm>
          <a:prstGeom prst="rect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27832" y="1664208"/>
            <a:ext cx="36576" cy="1444752"/>
          </a:xfrm>
          <a:prstGeom prst="rect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55848" y="1755648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P_PV vs P_MPP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355848" y="2066544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D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94.0–95.7%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355848" y="2743200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8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extracted / theoretical max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089904" y="1664208"/>
            <a:ext cx="2697480" cy="1444752"/>
          </a:xfrm>
          <a:prstGeom prst="rect">
            <a:avLst/>
          </a:prstGeom>
          <a:solidFill>
            <a:srgbClr val="F0F6FA"/>
          </a:solidFill>
          <a:ln w="12700">
            <a:solidFill>
              <a:srgbClr val="D4E4EE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89904" y="1664208"/>
            <a:ext cx="2697480" cy="36576"/>
          </a:xfrm>
          <a:prstGeom prst="rect">
            <a:avLst/>
          </a:prstGeom>
          <a:solidFill>
            <a:srgbClr val="1A9E5A"/>
          </a:solidFill>
          <a:ln w="12700">
            <a:solidFill>
              <a:srgbClr val="1A9E5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89904" y="1664208"/>
            <a:ext cx="36576" cy="1444752"/>
          </a:xfrm>
          <a:prstGeom prst="rect">
            <a:avLst/>
          </a:prstGeom>
          <a:solidFill>
            <a:srgbClr val="1A9E5A"/>
          </a:solidFill>
          <a:ln w="12700">
            <a:solidFill>
              <a:srgbClr val="1A9E5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17920" y="1755648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η_MPPT Tracking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217920" y="2066544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94.0% mean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217920" y="2743200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8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Monte Carlo range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65760" y="3218688"/>
            <a:ext cx="2697480" cy="1444752"/>
          </a:xfrm>
          <a:prstGeom prst="rect">
            <a:avLst/>
          </a:prstGeom>
          <a:solidFill>
            <a:srgbClr val="F0F6FA"/>
          </a:solidFill>
          <a:ln w="12700">
            <a:solidFill>
              <a:srgbClr val="D4E4EE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65760" y="3218688"/>
            <a:ext cx="2697480" cy="36576"/>
          </a:xfrm>
          <a:prstGeom prst="rect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3218688"/>
            <a:ext cx="36576" cy="1444752"/>
          </a:xfrm>
          <a:prstGeom prst="rect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3776" y="3310128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SoC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93776" y="3621024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D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 → 100%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493776" y="4297680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8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charge in 13-hr Sylhet July window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227832" y="3218688"/>
            <a:ext cx="2697480" cy="1444752"/>
          </a:xfrm>
          <a:prstGeom prst="rect">
            <a:avLst/>
          </a:prstGeom>
          <a:solidFill>
            <a:srgbClr val="F0F6FA"/>
          </a:solidFill>
          <a:ln w="12700">
            <a:solidFill>
              <a:srgbClr val="D4E4EE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227832" y="3218688"/>
            <a:ext cx="2697480" cy="36576"/>
          </a:xfrm>
          <a:prstGeom prst="rect">
            <a:avLst/>
          </a:prstGeom>
          <a:solidFill>
            <a:srgbClr val="4A6B7A"/>
          </a:solidFill>
          <a:ln w="12700">
            <a:solidFill>
              <a:srgbClr val="4A6B7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27832" y="3218688"/>
            <a:ext cx="36576" cy="1444752"/>
          </a:xfrm>
          <a:prstGeom prst="rect">
            <a:avLst/>
          </a:prstGeom>
          <a:solidFill>
            <a:srgbClr val="4A6B7A"/>
          </a:solidFill>
          <a:ln w="12700">
            <a:solidFill>
              <a:srgbClr val="4A6B7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355848" y="3310128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Voltage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3355848" y="3621024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12.41 – 13.61 V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3355848" y="4297680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8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CC/CV profile: bulk → absorb → float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089904" y="3218688"/>
            <a:ext cx="2697480" cy="1444752"/>
          </a:xfrm>
          <a:prstGeom prst="rect">
            <a:avLst/>
          </a:prstGeom>
          <a:solidFill>
            <a:srgbClr val="F0F6FA"/>
          </a:solidFill>
          <a:ln w="12700">
            <a:solidFill>
              <a:srgbClr val="D4E4EE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089904" y="3218688"/>
            <a:ext cx="2697480" cy="36576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89904" y="3218688"/>
            <a:ext cx="36576" cy="1444752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217920" y="3310128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Junction Temp T_J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217920" y="3621024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62 °C</a:t>
            </a:r>
            <a:endParaRPr lang="en-US" sz="2000" dirty="0"/>
          </a:p>
        </p:txBody>
      </p:sp>
      <p:sp>
        <p:nvSpPr>
          <p:cNvPr id="42" name="Text 40"/>
          <p:cNvSpPr/>
          <p:nvPr/>
        </p:nvSpPr>
        <p:spPr>
          <a:xfrm>
            <a:off x="6217920" y="4297680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8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35°C ambient, Rth_JA ≈ 13.5°C/W, ~2W peak loss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365760" y="4681728"/>
            <a:ext cx="8412480" cy="347472"/>
          </a:xfrm>
          <a:prstGeom prst="rect">
            <a:avLst/>
          </a:prstGeom>
          <a:solidFill>
            <a:srgbClr val="E8F5E9"/>
          </a:solidFill>
          <a:ln w="12700">
            <a:solidFill>
              <a:srgbClr val="1A9E5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02920" y="47183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validation: </a:t>
            </a:r>
            <a:r>
              <a:rPr lang="en-US" sz="100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reaches 100% within the 13-hour July solar window — confirms energy balance of controller design under maximum monsoon variability. Full charge from 45% initial state.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046720" y="489204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FAAB8"/>
                </a:solidFill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1645920" cy="256032"/>
          </a:xfrm>
          <a:prstGeom prst="rect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VALIDATION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65760" y="603504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vs Hossain et al. Field Baselines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225296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simulation-to-field cross-validation (IDCOL SHS field-measured data)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65760" y="1481328"/>
            <a:ext cx="8412480" cy="22860"/>
          </a:xfrm>
          <a:prstGeom prst="rect">
            <a:avLst/>
          </a:prstGeom>
          <a:solidFill>
            <a:srgbClr val="B8E0E0"/>
          </a:solidFill>
          <a:ln w="12700">
            <a:solidFill>
              <a:srgbClr val="B8E0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664208"/>
            <a:ext cx="4160520" cy="3246120"/>
          </a:xfrm>
          <a:prstGeom prst="rect">
            <a:avLst/>
          </a:prstGeom>
          <a:solidFill>
            <a:srgbClr val="F0F6FA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664208"/>
            <a:ext cx="4160520" cy="36576"/>
          </a:xfrm>
          <a:prstGeom prst="rect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746504"/>
            <a:ext cx="3886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Clear-Sky Validation (January)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157984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Hossain et al. field range: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423160"/>
            <a:ext cx="3840480" cy="502920"/>
          </a:xfrm>
          <a:prstGeom prst="rect">
            <a:avLst/>
          </a:prstGeom>
          <a:solidFill>
            <a:srgbClr val="DDEEF5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2450592"/>
            <a:ext cx="3657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9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 – 85% plain P&amp;O (field-measured)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48640" y="301752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P&amp;O (this work):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282696"/>
            <a:ext cx="3840480" cy="502920"/>
          </a:xfrm>
          <a:prstGeom prst="rect">
            <a:avLst/>
          </a:prstGeom>
          <a:solidFill>
            <a:srgbClr val="E8F5E9"/>
          </a:solidFill>
          <a:ln w="12700">
            <a:solidFill>
              <a:srgbClr val="1A9E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3310128"/>
            <a:ext cx="3657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86.8% ± 1.7% (Monte Carlo)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3877056"/>
            <a:ext cx="3840480" cy="530352"/>
          </a:xfrm>
          <a:prstGeom prst="rect">
            <a:avLst/>
          </a:prstGeom>
          <a:solidFill>
            <a:srgbClr val="E8F5E9"/>
          </a:solidFill>
          <a:ln w="12700">
            <a:solidFill>
              <a:srgbClr val="1A9E5A"/>
            </a:solidFill>
            <a:prstDash val="solid"/>
          </a:ln>
        </p:spPr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50208"/>
            <a:ext cx="256032" cy="256032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969264" y="3931920"/>
            <a:ext cx="331012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within +1.8 pp of field upper bound — model over-performs slightly vs field (conservative)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48640" y="4498848"/>
            <a:ext cx="3840480" cy="384048"/>
          </a:xfrm>
          <a:prstGeom prst="rect">
            <a:avLst/>
          </a:prstGeom>
          <a:solidFill>
            <a:srgbClr val="EBF7F7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0080" y="4535424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9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Helios-Artemis clear-sky: 93.2 ± 1.1%  →  +6.4 pp above field maximum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4709160" y="1664208"/>
            <a:ext cx="4069080" cy="3246120"/>
          </a:xfrm>
          <a:prstGeom prst="rect">
            <a:avLst/>
          </a:prstGeom>
          <a:solidFill>
            <a:srgbClr val="F0F6FA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709160" y="1664208"/>
            <a:ext cx="4069080" cy="36576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846320" y="1746504"/>
            <a:ext cx="3794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Monsoon Validation (July)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4846320" y="2157984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Hossain et al. field range: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846320" y="2423160"/>
            <a:ext cx="3749040" cy="502920"/>
          </a:xfrm>
          <a:prstGeom prst="rect">
            <a:avLst/>
          </a:prstGeom>
          <a:solidFill>
            <a:srgbClr val="DDEEF5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956048" y="2450592"/>
            <a:ext cx="3566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9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 – 85% plain P&amp;O (field-measured)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4846320" y="3017520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P&amp;O (this work):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846320" y="3282696"/>
            <a:ext cx="3749040" cy="502920"/>
          </a:xfrm>
          <a:prstGeom prst="rect">
            <a:avLst/>
          </a:prstGeom>
          <a:solidFill>
            <a:srgbClr val="FFF3CD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956048" y="3310128"/>
            <a:ext cx="3566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B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70.7% ± 3.8% (Monte Carlo)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4846320" y="3877056"/>
            <a:ext cx="3749040" cy="621792"/>
          </a:xfrm>
          <a:prstGeom prst="rect">
            <a:avLst/>
          </a:prstGeom>
          <a:solidFill>
            <a:srgbClr val="FEF9E7"/>
          </a:solidFill>
          <a:ln w="12700">
            <a:solidFill>
              <a:srgbClr val="E8A020"/>
            </a:solidFill>
            <a:prstDash val="solid"/>
          </a:ln>
        </p:spPr>
      </p:sp>
      <p:pic>
        <p:nvPicPr>
          <p:cNvPr id="3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6048" y="3950208"/>
            <a:ext cx="256032" cy="256032"/>
          </a:xfrm>
          <a:prstGeom prst="rect">
            <a:avLst/>
          </a:prstGeom>
        </p:spPr>
      </p:pic>
      <p:sp>
        <p:nvSpPr>
          <p:cNvPr id="32" name="Text 28"/>
          <p:cNvSpPr/>
          <p:nvPr/>
        </p:nvSpPr>
        <p:spPr>
          <a:xfrm>
            <a:off x="5266944" y="3922776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9B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8.3 pp below field lower bound. </a:t>
            </a:r>
            <a:r>
              <a:rPr lang="en-US" sz="90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Attributed to Sylhet Markov+OU sub-second flicker (σ=25%) being more severe than monthly-averaged field variability in Hossain et al. This conservative monsoon estimate STRENGTHENS the case for Helios-Artemis.</a:t>
            </a:r>
            <a:endParaRPr lang="en-US" sz="900" dirty="0"/>
          </a:p>
        </p:txBody>
      </p:sp>
      <p:sp>
        <p:nvSpPr>
          <p:cNvPr id="33" name="Shape 29"/>
          <p:cNvSpPr/>
          <p:nvPr/>
        </p:nvSpPr>
        <p:spPr>
          <a:xfrm>
            <a:off x="4846320" y="4572000"/>
            <a:ext cx="3749040" cy="310896"/>
          </a:xfrm>
          <a:prstGeom prst="rect">
            <a:avLst/>
          </a:prstGeom>
          <a:solidFill>
            <a:srgbClr val="C8F0E8"/>
          </a:solidFill>
          <a:ln w="12700">
            <a:solidFill>
              <a:srgbClr val="1A9E5A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4937760" y="4608576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9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Helios-Artemis monsoon: 95.1 ± 2.1%  →  +16.8 pp above field minimum</a:t>
            </a:r>
            <a:endParaRPr lang="en-US" sz="950" dirty="0"/>
          </a:p>
        </p:txBody>
      </p:sp>
      <p:sp>
        <p:nvSpPr>
          <p:cNvPr id="35" name="Text 31"/>
          <p:cNvSpPr/>
          <p:nvPr/>
        </p:nvSpPr>
        <p:spPr>
          <a:xfrm>
            <a:off x="8046720" y="489204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FAAB8"/>
                </a:solidFill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1645920" cy="256032"/>
          </a:xfrm>
          <a:prstGeom prst="rect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COST-BENEFIT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65760" y="603504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Analysis and Economic Impact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225296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BOM vs IDCOL-compatible commercial alternatives — Q1 2026 Dhaka retail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65760" y="1481328"/>
            <a:ext cx="8412480" cy="22860"/>
          </a:xfrm>
          <a:prstGeom prst="rect">
            <a:avLst/>
          </a:prstGeom>
          <a:solidFill>
            <a:srgbClr val="B8E0E0"/>
          </a:solidFill>
          <a:ln w="12700">
            <a:solidFill>
              <a:srgbClr val="B8E0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664208"/>
            <a:ext cx="4160520" cy="3246120"/>
          </a:xfrm>
          <a:prstGeom prst="rect">
            <a:avLst/>
          </a:prstGeom>
          <a:solidFill>
            <a:srgbClr val="F0F6FA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664208"/>
            <a:ext cx="4160520" cy="36576"/>
          </a:xfrm>
          <a:prstGeom prst="rect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746504"/>
            <a:ext cx="3886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 of Materials (BOM)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130552"/>
            <a:ext cx="39776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CF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148840"/>
            <a:ext cx="219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ESP32-S3 (Helios MCU)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788920" y="2148840"/>
            <a:ext cx="731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09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380 BDT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584448" y="2221992"/>
            <a:ext cx="764438" cy="182880"/>
          </a:xfrm>
          <a:prstGeom prst="rect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94606" y="2221992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57200" y="2514600"/>
            <a:ext cx="3977640" cy="347472"/>
          </a:xfrm>
          <a:prstGeom prst="rect">
            <a:avLst/>
          </a:prstGeom>
          <a:solidFill>
            <a:srgbClr val="F0F6FA"/>
          </a:solidFill>
          <a:ln w="12700">
            <a:solidFill>
              <a:srgbClr val="E0EC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2532888"/>
            <a:ext cx="219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STM32F103 (Artemis MCU)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788920" y="2532888"/>
            <a:ext cx="731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09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BDT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584448" y="2606040"/>
            <a:ext cx="241402" cy="182880"/>
          </a:xfrm>
          <a:prstGeom prst="rect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71570" y="2606040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2898648"/>
            <a:ext cx="39776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CF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2916936"/>
            <a:ext cx="219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INA219 current sensor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2788920" y="2916936"/>
            <a:ext cx="731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09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BDT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584448" y="2990088"/>
            <a:ext cx="160934" cy="182880"/>
          </a:xfrm>
          <a:prstGeom prst="rect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91102" y="2990088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3282696"/>
            <a:ext cx="3977640" cy="347472"/>
          </a:xfrm>
          <a:prstGeom prst="rect">
            <a:avLst/>
          </a:prstGeom>
          <a:solidFill>
            <a:srgbClr val="F0F6FA"/>
          </a:solidFill>
          <a:ln w="12700">
            <a:solidFill>
              <a:srgbClr val="E0ECF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3300984"/>
            <a:ext cx="219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TSL2591 light sensor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788920" y="3300984"/>
            <a:ext cx="731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09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BDT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584448" y="3374136"/>
            <a:ext cx="241402" cy="182880"/>
          </a:xfrm>
          <a:prstGeom prst="rect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71570" y="3374136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57200" y="3666744"/>
            <a:ext cx="39776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CF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3685032"/>
            <a:ext cx="219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 converter passives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788920" y="3685032"/>
            <a:ext cx="731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09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 BDT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3584448" y="3758184"/>
            <a:ext cx="704088" cy="182880"/>
          </a:xfrm>
          <a:prstGeom prst="rect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34256" y="3758184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23%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57200" y="4050792"/>
            <a:ext cx="3977640" cy="347472"/>
          </a:xfrm>
          <a:prstGeom prst="rect">
            <a:avLst/>
          </a:prstGeom>
          <a:solidFill>
            <a:srgbClr val="F0F6FA"/>
          </a:solidFill>
          <a:ln w="12700">
            <a:solidFill>
              <a:srgbClr val="E0ECF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4069080"/>
            <a:ext cx="219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PCB and housing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2788920" y="4069080"/>
            <a:ext cx="731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09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280 BDT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584448" y="4142232"/>
            <a:ext cx="563270" cy="182880"/>
          </a:xfrm>
          <a:prstGeom prst="rect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193438" y="4142232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19%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457200" y="4434840"/>
            <a:ext cx="39776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CF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48640" y="4453128"/>
            <a:ext cx="219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Misc. connectors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2788920" y="4453128"/>
            <a:ext cx="731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09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170 BDT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3584448" y="4526280"/>
            <a:ext cx="341986" cy="182880"/>
          </a:xfrm>
          <a:prstGeom prst="rect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72154" y="4526280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11%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457200" y="4645152"/>
            <a:ext cx="3977640" cy="201168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02920" y="4654296"/>
            <a:ext cx="3886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CONTROLLER COST:  ~1,500 BDT  (≈ USD 14)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709160" y="1664208"/>
            <a:ext cx="4069080" cy="3246120"/>
          </a:xfrm>
          <a:prstGeom prst="rect">
            <a:avLst/>
          </a:prstGeom>
          <a:solidFill>
            <a:srgbClr val="F0F6FA"/>
          </a:solidFill>
          <a:ln w="12700">
            <a:solidFill>
              <a:srgbClr val="D4E4E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709160" y="1664208"/>
            <a:ext cx="4069080" cy="36576"/>
          </a:xfrm>
          <a:prstGeom prst="rect">
            <a:avLst/>
          </a:prstGeom>
          <a:solidFill>
            <a:srgbClr val="1A9E5A"/>
          </a:solidFill>
          <a:ln w="12700">
            <a:solidFill>
              <a:srgbClr val="1A9E5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46320" y="1746504"/>
            <a:ext cx="3794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Impact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4846320" y="2130552"/>
            <a:ext cx="3840480" cy="475488"/>
          </a:xfrm>
          <a:prstGeom prst="rect">
            <a:avLst/>
          </a:prstGeom>
          <a:solidFill>
            <a:srgbClr val="FFE4E1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956048" y="2167128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IDCOL-compatible MPPT: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4956048" y="2340864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~13,500 BDT  (≈ USD 122)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4846320" y="2679192"/>
            <a:ext cx="3840480" cy="475488"/>
          </a:xfrm>
          <a:prstGeom prst="rect">
            <a:avLst/>
          </a:prstGeom>
          <a:solidFill>
            <a:srgbClr val="E8F5E9"/>
          </a:solidFill>
          <a:ln w="12700">
            <a:solidFill>
              <a:srgbClr val="1A9E5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56048" y="2715768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Helios-Artemis controller: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4956048" y="2889504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~1,500 BDT  (≈ USD 14)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4846320" y="3227832"/>
            <a:ext cx="3840480" cy="3474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37760" y="326440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89% cost reduction — saves ~12,000 BDT per unit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4846320" y="3675888"/>
            <a:ext cx="384048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CF2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37760" y="3694176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efficiency gain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6803136" y="3694176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 kWh per 50 Wp panel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4846320" y="4014216"/>
            <a:ext cx="3840480" cy="301752"/>
          </a:xfrm>
          <a:prstGeom prst="rect">
            <a:avLst/>
          </a:prstGeom>
          <a:solidFill>
            <a:srgbClr val="F0F6FA"/>
          </a:solidFill>
          <a:ln w="12700">
            <a:solidFill>
              <a:srgbClr val="E0ECF2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937760" y="4032504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Rural avoided cost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6803136" y="4032504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BDT / kWh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4846320" y="4352544"/>
            <a:ext cx="384048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CF2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937760" y="437083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energy value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6803136" y="437083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+289 BDT / year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4846320" y="4690872"/>
            <a:ext cx="3840480" cy="301752"/>
          </a:xfrm>
          <a:prstGeom prst="rect">
            <a:avLst/>
          </a:prstGeom>
          <a:solidFill>
            <a:srgbClr val="F0F6FA"/>
          </a:solidFill>
          <a:ln w="12700">
            <a:solidFill>
              <a:srgbClr val="E0ECF2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937760" y="470916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 period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6803136" y="470916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~5.2 years vs plain P&amp;O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4846320" y="5029200"/>
            <a:ext cx="3840480" cy="274320"/>
          </a:xfrm>
          <a:prstGeom prst="rect">
            <a:avLst/>
          </a:prstGeom>
          <a:solidFill>
            <a:srgbClr val="D5EEF5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937760" y="5056632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9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Scale: 6M households × 289 BDT/yr = ~1.73 Billion BDT annual energy value unlock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8046720" y="489204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FAAB8"/>
                </a:solidFill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1645920" cy="256032"/>
          </a:xfrm>
          <a:prstGeom prst="rect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LIMITATIONS &amp; ROADMAP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65760" y="603504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Limitations and Research Roadmap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225296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Simulation-based validation — hardware prototype and field trial are the immediate next step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65760" y="1481328"/>
            <a:ext cx="8412480" cy="22860"/>
          </a:xfrm>
          <a:prstGeom prst="rect">
            <a:avLst/>
          </a:prstGeom>
          <a:solidFill>
            <a:srgbClr val="B8E0E0"/>
          </a:solidFill>
          <a:ln w="12700">
            <a:solidFill>
              <a:srgbClr val="B8E0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664208"/>
            <a:ext cx="4160520" cy="3017520"/>
          </a:xfrm>
          <a:prstGeom prst="rect">
            <a:avLst/>
          </a:prstGeom>
          <a:solidFill>
            <a:srgbClr val="FFF8F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664208"/>
            <a:ext cx="4160520" cy="36576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37360"/>
            <a:ext cx="274320" cy="2743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22960" y="173736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B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Limitations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75488" y="2130552"/>
            <a:ext cx="39319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F0DAB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75488" y="2130552"/>
            <a:ext cx="36576" cy="438912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03504" y="2167128"/>
            <a:ext cx="3730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b="1" dirty="0">
                <a:solidFill>
                  <a:srgbClr val="9B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Simulation-only: </a:t>
            </a:r>
            <a:r>
              <a:rPr lang="en-US" sz="98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hardware measurements collected. All efficiency figures derived from calibrated Sylhet Markov+OU model.</a:t>
            </a:r>
            <a:endParaRPr lang="en-US" sz="980" dirty="0"/>
          </a:p>
        </p:txBody>
      </p:sp>
      <p:sp>
        <p:nvSpPr>
          <p:cNvPr id="14" name="Shape 11"/>
          <p:cNvSpPr/>
          <p:nvPr/>
        </p:nvSpPr>
        <p:spPr>
          <a:xfrm>
            <a:off x="475488" y="2624328"/>
            <a:ext cx="3931920" cy="438912"/>
          </a:xfrm>
          <a:prstGeom prst="rect">
            <a:avLst/>
          </a:prstGeom>
          <a:solidFill>
            <a:srgbClr val="FFF4E8"/>
          </a:solidFill>
          <a:ln w="12700">
            <a:solidFill>
              <a:srgbClr val="F0DAB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75488" y="2624328"/>
            <a:ext cx="36576" cy="438912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03504" y="2660904"/>
            <a:ext cx="3730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b="1" dirty="0">
                <a:solidFill>
                  <a:srgbClr val="9B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forecast error: </a:t>
            </a:r>
            <a:r>
              <a:rPr lang="en-US" sz="98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= 50.7 W/m² daytime — meaningful uncertainty in transient prediction accuracy.</a:t>
            </a:r>
            <a:endParaRPr lang="en-US" sz="980" dirty="0"/>
          </a:p>
        </p:txBody>
      </p:sp>
      <p:sp>
        <p:nvSpPr>
          <p:cNvPr id="17" name="Shape 14"/>
          <p:cNvSpPr/>
          <p:nvPr/>
        </p:nvSpPr>
        <p:spPr>
          <a:xfrm>
            <a:off x="475488" y="3118104"/>
            <a:ext cx="39319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F0DAB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75488" y="3118104"/>
            <a:ext cx="36576" cy="438912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03504" y="3154680"/>
            <a:ext cx="3730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b="1" dirty="0">
                <a:solidFill>
                  <a:srgbClr val="9B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Sim-to-hardware fidelity: </a:t>
            </a:r>
            <a:r>
              <a:rPr lang="en-US" sz="98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 formula efficiency gain (vs pure VS-P&amp;O) not empirically confirmed on real hardware.</a:t>
            </a:r>
            <a:endParaRPr lang="en-US" sz="980" dirty="0"/>
          </a:p>
        </p:txBody>
      </p:sp>
      <p:sp>
        <p:nvSpPr>
          <p:cNvPr id="20" name="Shape 17"/>
          <p:cNvSpPr/>
          <p:nvPr/>
        </p:nvSpPr>
        <p:spPr>
          <a:xfrm>
            <a:off x="475488" y="3611880"/>
            <a:ext cx="3931920" cy="438912"/>
          </a:xfrm>
          <a:prstGeom prst="rect">
            <a:avLst/>
          </a:prstGeom>
          <a:solidFill>
            <a:srgbClr val="FFF4E8"/>
          </a:solidFill>
          <a:ln w="12700">
            <a:solidFill>
              <a:srgbClr val="F0DAB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75488" y="3611880"/>
            <a:ext cx="36576" cy="438912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03504" y="3648456"/>
            <a:ext cx="3730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b="1" dirty="0">
                <a:solidFill>
                  <a:srgbClr val="9B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degradation: </a:t>
            </a:r>
            <a:r>
              <a:rPr lang="en-US" sz="98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 cycle life, SoC drift, and capacity fade not modelled in this study.</a:t>
            </a:r>
            <a:endParaRPr lang="en-US" sz="980" dirty="0"/>
          </a:p>
        </p:txBody>
      </p:sp>
      <p:sp>
        <p:nvSpPr>
          <p:cNvPr id="23" name="Shape 20"/>
          <p:cNvSpPr/>
          <p:nvPr/>
        </p:nvSpPr>
        <p:spPr>
          <a:xfrm>
            <a:off x="475488" y="4105656"/>
            <a:ext cx="39319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F0DAB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75488" y="4105656"/>
            <a:ext cx="36576" cy="438912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03504" y="4142232"/>
            <a:ext cx="3730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b="1" dirty="0">
                <a:solidFill>
                  <a:srgbClr val="9B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Year-2 R² = 0.917: </a:t>
            </a:r>
            <a:r>
              <a:rPr lang="en-US" sz="98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than comparable cloud-connected LSTM papers (R²≈0.95+) — reflects Sylhet climate difficulty, not model weakness.</a:t>
            </a:r>
            <a:endParaRPr lang="en-US" sz="980" dirty="0"/>
          </a:p>
        </p:txBody>
      </p:sp>
      <p:sp>
        <p:nvSpPr>
          <p:cNvPr id="26" name="Shape 23"/>
          <p:cNvSpPr/>
          <p:nvPr/>
        </p:nvSpPr>
        <p:spPr>
          <a:xfrm>
            <a:off x="4709160" y="1664208"/>
            <a:ext cx="4069080" cy="3017520"/>
          </a:xfrm>
          <a:prstGeom prst="rect">
            <a:avLst/>
          </a:prstGeom>
          <a:solidFill>
            <a:srgbClr val="F0FBF5"/>
          </a:solidFill>
          <a:ln w="12700">
            <a:solidFill>
              <a:srgbClr val="1A9E5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709160" y="1664208"/>
            <a:ext cx="4069080" cy="36576"/>
          </a:xfrm>
          <a:prstGeom prst="rect">
            <a:avLst/>
          </a:prstGeom>
          <a:solidFill>
            <a:srgbClr val="1A9E5A"/>
          </a:solidFill>
          <a:ln w="12700">
            <a:solidFill>
              <a:srgbClr val="1A9E5A"/>
            </a:solidFill>
            <a:prstDash val="solid"/>
          </a:ln>
        </p:spPr>
      </p:sp>
      <p:pic>
        <p:nvPicPr>
          <p:cNvPr id="2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1737360"/>
            <a:ext cx="274320" cy="274320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5166360" y="173736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Roadmap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818888" y="2130552"/>
            <a:ext cx="3840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B8DDB0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4818888" y="2130552"/>
            <a:ext cx="530352" cy="438912"/>
          </a:xfrm>
          <a:prstGeom prst="rect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4818888" y="2130552"/>
            <a:ext cx="53035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</a:t>
            </a:r>
            <a:endParaRPr lang="en-US" sz="750" dirty="0"/>
          </a:p>
        </p:txBody>
      </p:sp>
      <p:sp>
        <p:nvSpPr>
          <p:cNvPr id="33" name="Text 29"/>
          <p:cNvSpPr/>
          <p:nvPr/>
        </p:nvSpPr>
        <p:spPr>
          <a:xfrm>
            <a:off x="5413248" y="2167128"/>
            <a:ext cx="31272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4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Prototype (Sylhet): </a:t>
            </a:r>
            <a:r>
              <a:rPr lang="en-US" sz="9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Fabricate PCB, procure IRFZ44N (upgrade to IRFB4110: RDS(on) 3.7 mΩ, −86% conduction loss).</a:t>
            </a:r>
            <a:endParaRPr lang="en-US" sz="950" dirty="0"/>
          </a:p>
        </p:txBody>
      </p:sp>
      <p:sp>
        <p:nvSpPr>
          <p:cNvPr id="34" name="Shape 30"/>
          <p:cNvSpPr/>
          <p:nvPr/>
        </p:nvSpPr>
        <p:spPr>
          <a:xfrm>
            <a:off x="4818888" y="2624328"/>
            <a:ext cx="3840480" cy="438912"/>
          </a:xfrm>
          <a:prstGeom prst="rect">
            <a:avLst/>
          </a:prstGeom>
          <a:solidFill>
            <a:srgbClr val="E8F5E9"/>
          </a:solidFill>
          <a:ln w="12700">
            <a:solidFill>
              <a:srgbClr val="B8DDB0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4818888" y="2624328"/>
            <a:ext cx="530352" cy="438912"/>
          </a:xfrm>
          <a:prstGeom prst="rect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4818888" y="2624328"/>
            <a:ext cx="53035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</a:t>
            </a:r>
            <a:endParaRPr lang="en-US" sz="750" dirty="0"/>
          </a:p>
        </p:txBody>
      </p:sp>
      <p:sp>
        <p:nvSpPr>
          <p:cNvPr id="37" name="Text 33"/>
          <p:cNvSpPr/>
          <p:nvPr/>
        </p:nvSpPr>
        <p:spPr>
          <a:xfrm>
            <a:off x="5413248" y="2660904"/>
            <a:ext cx="31272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4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Deployment: </a:t>
            </a:r>
            <a:r>
              <a:rPr lang="en-US" sz="9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at rural SHS site in Sylhet. Collect real-sensor irradiance for LSTM training data.</a:t>
            </a:r>
            <a:endParaRPr lang="en-US" sz="950" dirty="0"/>
          </a:p>
        </p:txBody>
      </p:sp>
      <p:sp>
        <p:nvSpPr>
          <p:cNvPr id="38" name="Shape 34"/>
          <p:cNvSpPr/>
          <p:nvPr/>
        </p:nvSpPr>
        <p:spPr>
          <a:xfrm>
            <a:off x="4818888" y="3118104"/>
            <a:ext cx="3840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B8DDB0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4818888" y="3118104"/>
            <a:ext cx="530352" cy="438912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4818888" y="3118104"/>
            <a:ext cx="53035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2026</a:t>
            </a:r>
            <a:endParaRPr lang="en-US" sz="750" dirty="0"/>
          </a:p>
        </p:txBody>
      </p:sp>
      <p:sp>
        <p:nvSpPr>
          <p:cNvPr id="41" name="Text 37"/>
          <p:cNvSpPr/>
          <p:nvPr/>
        </p:nvSpPr>
        <p:spPr>
          <a:xfrm>
            <a:off x="5413248" y="3154680"/>
            <a:ext cx="31272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4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 Comparison: </a:t>
            </a:r>
            <a:r>
              <a:rPr lang="en-US" sz="9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real vs simulated MPPT efficiency under identical irradiance — validate Markov+OU model fidelity.</a:t>
            </a:r>
            <a:endParaRPr lang="en-US" sz="950" dirty="0"/>
          </a:p>
        </p:txBody>
      </p:sp>
      <p:sp>
        <p:nvSpPr>
          <p:cNvPr id="42" name="Shape 38"/>
          <p:cNvSpPr/>
          <p:nvPr/>
        </p:nvSpPr>
        <p:spPr>
          <a:xfrm>
            <a:off x="4818888" y="3611880"/>
            <a:ext cx="3840480" cy="438912"/>
          </a:xfrm>
          <a:prstGeom prst="rect">
            <a:avLst/>
          </a:prstGeom>
          <a:solidFill>
            <a:srgbClr val="E8F5E9"/>
          </a:solidFill>
          <a:ln w="12700">
            <a:solidFill>
              <a:srgbClr val="B8DDB0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4818888" y="3611880"/>
            <a:ext cx="530352" cy="438912"/>
          </a:xfrm>
          <a:prstGeom prst="rect">
            <a:avLst/>
          </a:prstGeom>
          <a:solidFill>
            <a:srgbClr val="1A9E5A"/>
          </a:solidFill>
          <a:ln w="12700">
            <a:solidFill>
              <a:srgbClr val="1A9E5A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4818888" y="3611880"/>
            <a:ext cx="53035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2027</a:t>
            </a:r>
            <a:endParaRPr lang="en-US" sz="750" dirty="0"/>
          </a:p>
        </p:txBody>
      </p:sp>
      <p:sp>
        <p:nvSpPr>
          <p:cNvPr id="45" name="Text 41"/>
          <p:cNvSpPr/>
          <p:nvPr/>
        </p:nvSpPr>
        <p:spPr>
          <a:xfrm>
            <a:off x="5413248" y="3648456"/>
            <a:ext cx="31272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4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Submission: </a:t>
            </a:r>
            <a:r>
              <a:rPr lang="en-US" sz="9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MDPI Energies. Hardware-validated results with full methodology.</a:t>
            </a:r>
            <a:endParaRPr lang="en-US" sz="950" dirty="0"/>
          </a:p>
        </p:txBody>
      </p:sp>
      <p:sp>
        <p:nvSpPr>
          <p:cNvPr id="46" name="Shape 42"/>
          <p:cNvSpPr/>
          <p:nvPr/>
        </p:nvSpPr>
        <p:spPr>
          <a:xfrm>
            <a:off x="4818888" y="4105656"/>
            <a:ext cx="3840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B8DDB0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4818888" y="4105656"/>
            <a:ext cx="530352" cy="438912"/>
          </a:xfrm>
          <a:prstGeom prst="rect">
            <a:avLst/>
          </a:prstGeom>
          <a:solidFill>
            <a:srgbClr val="4A6B7A"/>
          </a:solidFill>
          <a:ln w="12700">
            <a:solidFill>
              <a:srgbClr val="4A6B7A"/>
            </a:solidFill>
            <a:prstDash val="solid"/>
          </a:ln>
        </p:spPr>
      </p:sp>
      <p:sp>
        <p:nvSpPr>
          <p:cNvPr id="48" name="Text 44"/>
          <p:cNvSpPr/>
          <p:nvPr/>
        </p:nvSpPr>
        <p:spPr>
          <a:xfrm>
            <a:off x="4818888" y="4105656"/>
            <a:ext cx="53035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</a:t>
            </a:r>
            <a:endParaRPr lang="en-US" sz="750" dirty="0"/>
          </a:p>
        </p:txBody>
      </p:sp>
      <p:sp>
        <p:nvSpPr>
          <p:cNvPr id="49" name="Text 45"/>
          <p:cNvSpPr/>
          <p:nvPr/>
        </p:nvSpPr>
        <p:spPr>
          <a:xfrm>
            <a:off x="5413248" y="4142232"/>
            <a:ext cx="31272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4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&amp; Expansion: </a:t>
            </a:r>
            <a:r>
              <a:rPr lang="en-US" sz="950" dirty="0">
                <a:solidFill>
                  <a:srgbClr val="10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Multi-panel MPPT, partial shading optimisation, IRFB4110 thermal analysis, wider Bangladesh rollout.</a:t>
            </a:r>
            <a:endParaRPr lang="en-US" sz="950" dirty="0"/>
          </a:p>
        </p:txBody>
      </p:sp>
      <p:sp>
        <p:nvSpPr>
          <p:cNvPr id="50" name="Shape 46"/>
          <p:cNvSpPr/>
          <p:nvPr/>
        </p:nvSpPr>
        <p:spPr>
          <a:xfrm>
            <a:off x="365760" y="4791456"/>
            <a:ext cx="8412480" cy="25603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51" name="Text 47"/>
          <p:cNvSpPr/>
          <p:nvPr/>
        </p:nvSpPr>
        <p:spPr>
          <a:xfrm>
            <a:off x="502920" y="4809744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B8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code &amp; figure generation: github.com/touhidsiddiqueeraj-bit/artemis-helios</a:t>
            </a:r>
            <a:endParaRPr lang="en-US" sz="950" dirty="0"/>
          </a:p>
        </p:txBody>
      </p:sp>
      <p:sp>
        <p:nvSpPr>
          <p:cNvPr id="52" name="Text 48"/>
          <p:cNvSpPr/>
          <p:nvPr/>
        </p:nvSpPr>
        <p:spPr>
          <a:xfrm>
            <a:off x="8046720" y="489204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FAAB8"/>
                </a:solidFill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27432" cy="5143500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27432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804672"/>
            <a:ext cx="8046720" cy="27432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969264"/>
            <a:ext cx="3931920" cy="1170432"/>
          </a:xfrm>
          <a:prstGeom prst="rect">
            <a:avLst/>
          </a:prstGeom>
          <a:solidFill>
            <a:srgbClr val="122D50"/>
          </a:solidFill>
          <a:ln w="12700">
            <a:solidFill>
              <a:srgbClr val="0D8A8A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109728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34440" y="1060704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6M households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59536" y="1463040"/>
            <a:ext cx="3675888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B8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IDCOL SHS programme — monsoon P&amp;O tracking gap directly reduces household energy access &amp; battery cycle life.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892040" y="969264"/>
            <a:ext cx="3931920" cy="1170432"/>
          </a:xfrm>
          <a:prstGeom prst="rect">
            <a:avLst/>
          </a:prstGeom>
          <a:solidFill>
            <a:srgbClr val="122D50"/>
          </a:solidFill>
          <a:ln w="12700">
            <a:solidFill>
              <a:srgbClr val="0D8A8A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0056" y="1097280"/>
            <a:ext cx="292608" cy="2926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394960" y="1060704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Dual-MCU decoupling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5020056" y="1463040"/>
            <a:ext cx="3675888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B8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ESP32-S3 (Helios) handles LSTM inference without introducing jitter into STM32F103 (Artemis) 50 kHz control loop.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31520" y="2249424"/>
            <a:ext cx="3931920" cy="1170432"/>
          </a:xfrm>
          <a:prstGeom prst="rect">
            <a:avLst/>
          </a:prstGeom>
          <a:solidFill>
            <a:srgbClr val="122D50"/>
          </a:solidFill>
          <a:ln w="12700">
            <a:solidFill>
              <a:srgbClr val="0D8A8A"/>
            </a:solidFill>
            <a:prstDash val="solid"/>
          </a:ln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" y="2377440"/>
            <a:ext cx="292608" cy="29260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234440" y="2340864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= 0.917 predictor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859536" y="2743200"/>
            <a:ext cx="3675888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B8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Year-2 independent test, 50.7 W/m² MAE. Lower than cloud-connected models — reflects Sylhet difficulty, not model failure.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892040" y="2249424"/>
            <a:ext cx="3931920" cy="1170432"/>
          </a:xfrm>
          <a:prstGeom prst="rect">
            <a:avLst/>
          </a:prstGeom>
          <a:solidFill>
            <a:srgbClr val="122D50"/>
          </a:solidFill>
          <a:ln w="12700">
            <a:solidFill>
              <a:srgbClr val="0D8A8A"/>
            </a:solidFill>
            <a:prstDash val="solid"/>
          </a:ln>
        </p:spPr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0056" y="2377440"/>
            <a:ext cx="292608" cy="29260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5394960" y="2340864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+23.3 pp monsoon gain</a:t>
            </a:r>
            <a:endParaRPr lang="en-US" sz="1250" dirty="0"/>
          </a:p>
        </p:txBody>
      </p:sp>
      <p:sp>
        <p:nvSpPr>
          <p:cNvPr id="21" name="Text 15"/>
          <p:cNvSpPr/>
          <p:nvPr/>
        </p:nvSpPr>
        <p:spPr>
          <a:xfrm>
            <a:off x="5020056" y="2743200"/>
            <a:ext cx="3675888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B8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70.7% → 94.0% (Monte Carlo); robust plateau α ∈ [0.20, 0.55] resolves overfitting concerns.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31520" y="3529584"/>
            <a:ext cx="3931920" cy="1170432"/>
          </a:xfrm>
          <a:prstGeom prst="rect">
            <a:avLst/>
          </a:prstGeom>
          <a:solidFill>
            <a:srgbClr val="122D50"/>
          </a:solidFill>
          <a:ln w="12700">
            <a:solidFill>
              <a:srgbClr val="0D8A8A"/>
            </a:solidFill>
            <a:prstDash val="solid"/>
          </a:ln>
        </p:spPr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9536" y="3657600"/>
            <a:ext cx="292608" cy="29260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234440" y="3621024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 BDT controller</a:t>
            </a:r>
            <a:endParaRPr lang="en-US" sz="1250" dirty="0"/>
          </a:p>
        </p:txBody>
      </p:sp>
      <p:sp>
        <p:nvSpPr>
          <p:cNvPr id="25" name="Text 18"/>
          <p:cNvSpPr/>
          <p:nvPr/>
        </p:nvSpPr>
        <p:spPr>
          <a:xfrm>
            <a:off x="859536" y="4023360"/>
            <a:ext cx="3675888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B8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89% below commercial alternatives. ~5.2-year payback vs plain P&amp;O at rural 60 BDT/kWh avoided cost.</a:t>
            </a:r>
            <a:endParaRPr lang="en-US" sz="1000" dirty="0"/>
          </a:p>
        </p:txBody>
      </p:sp>
      <p:sp>
        <p:nvSpPr>
          <p:cNvPr id="26" name="Shape 19"/>
          <p:cNvSpPr/>
          <p:nvPr/>
        </p:nvSpPr>
        <p:spPr>
          <a:xfrm>
            <a:off x="4892040" y="3529584"/>
            <a:ext cx="3931920" cy="1170432"/>
          </a:xfrm>
          <a:prstGeom prst="rect">
            <a:avLst/>
          </a:prstGeom>
          <a:solidFill>
            <a:srgbClr val="122D50"/>
          </a:solidFill>
          <a:ln w="12700">
            <a:solidFill>
              <a:srgbClr val="0D8A8A"/>
            </a:solidFill>
            <a:prstDash val="solid"/>
          </a:ln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20056" y="3657600"/>
            <a:ext cx="292608" cy="292608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5394960" y="3621024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hardware &amp; field</a:t>
            </a:r>
            <a:endParaRPr lang="en-US" sz="1250" dirty="0"/>
          </a:p>
        </p:txBody>
      </p:sp>
      <p:sp>
        <p:nvSpPr>
          <p:cNvPr id="29" name="Text 21"/>
          <p:cNvSpPr/>
          <p:nvPr/>
        </p:nvSpPr>
        <p:spPr>
          <a:xfrm>
            <a:off x="5020056" y="4023360"/>
            <a:ext cx="3675888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B8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 Sylhet prototype. IRFB4110 MOSFET upgrade (−86% conduction loss). Then journal submission.</a:t>
            </a:r>
            <a:endParaRPr lang="en-US" sz="1000" dirty="0"/>
          </a:p>
        </p:txBody>
      </p:sp>
      <p:sp>
        <p:nvSpPr>
          <p:cNvPr id="30" name="Text 22"/>
          <p:cNvSpPr/>
          <p:nvPr/>
        </p:nvSpPr>
        <p:spPr>
          <a:xfrm>
            <a:off x="731520" y="4828032"/>
            <a:ext cx="8046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F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 ·  Hussain Touhid Siddiquee  ·  Dept. EEE, Leading University Sylhet  ·  2026</a:t>
            </a:r>
            <a:endParaRPr lang="en-US" sz="950" dirty="0"/>
          </a:p>
        </p:txBody>
      </p:sp>
      <p:sp>
        <p:nvSpPr>
          <p:cNvPr id="31" name="Text 23"/>
          <p:cNvSpPr/>
          <p:nvPr/>
        </p:nvSpPr>
        <p:spPr>
          <a:xfrm>
            <a:off x="8046720" y="489204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FAAB8"/>
                </a:solidFill>
              </a:rPr>
              <a:t>14 / 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2364</Words>
  <Application>Microsoft Office PowerPoint</Application>
  <PresentationFormat>On-screen Show (16:9)</PresentationFormat>
  <Paragraphs>446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Helios-Artemis: Dual-MCU Predictive MPPT</dc:title>
  <dc:subject>PptxGenJS Presentation</dc:subject>
  <dc:creator>Hussain Touhid Siddiquee</dc:creator>
  <cp:lastModifiedBy>mourymarjana@gmail.com</cp:lastModifiedBy>
  <cp:revision>2</cp:revision>
  <dcterms:created xsi:type="dcterms:W3CDTF">2026-05-19T03:30:30Z</dcterms:created>
  <dcterms:modified xsi:type="dcterms:W3CDTF">2026-05-19T04:05:37Z</dcterms:modified>
</cp:coreProperties>
</file>