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4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 (BDT)</c:v>
                </c:pt>
              </c:strCache>
            </c:strRef>
          </c:tx>
          <c:spPr>
            <a:solidFill>
              <a:srgbClr val="D0D8E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B6E-4FFB-A68B-6651F5A2C66F}"/>
              </c:ext>
            </c:extLst>
          </c:dPt>
          <c:dPt>
            <c:idx val="1"/>
            <c:invertIfNegative val="0"/>
            <c:bubble3D val="0"/>
            <c:spPr>
              <a:solidFill>
                <a:srgbClr val="4B9FE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B6E-4FFB-A68B-6651F5A2C66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B1F4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Commercial MPPT
Controller</c:v>
                </c:pt>
                <c:pt idx="1">
                  <c:v>Helios-Artemis
(this work)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13500</c:v>
                </c:pt>
                <c:pt idx="1">
                  <c:v>1500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B6E-4FFB-A68B-6651F5A2C66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000"/>
        </c:scaling>
        <c:delete val="0"/>
        <c:axPos val="l"/>
        <c:majorGridlines>
          <c:spPr>
            <a:ln w="6350" cap="flat">
              <a:solidFill>
                <a:srgbClr val="E2EC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3930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737360"/>
            <a:ext cx="8979408" cy="1691640"/>
          </a:xfrm>
          <a:prstGeom prst="rect">
            <a:avLst/>
          </a:prstGeom>
          <a:solidFill>
            <a:srgbClr val="1A56A0"/>
          </a:solidFill>
          <a:ln w="12700">
            <a:solidFill>
              <a:srgbClr val="1A5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7830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Helios-Artemis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8D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Smarter Solar Controller for Rural Bangladesh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E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Hussain Touhid Siddiquee  ·  Dept. EEE, Leading University Sylhet  ·  2026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132320" y="365760"/>
            <a:ext cx="1463040" cy="1463040"/>
          </a:xfrm>
          <a:prstGeom prst="ellipse">
            <a:avLst/>
          </a:prstGeom>
          <a:solidFill>
            <a:srgbClr val="E8A020">
              <a:alpha val="20000"/>
            </a:srgbClr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0" y="548640"/>
            <a:ext cx="1097280" cy="1097280"/>
          </a:xfrm>
          <a:prstGeom prst="ellipse">
            <a:avLst/>
          </a:prstGeom>
          <a:solidFill>
            <a:srgbClr val="E8A020">
              <a:alpha val="50000"/>
            </a:srgbClr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Solar Power Wasted in Bangladesh Monsoon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2743200" cy="1234440"/>
          </a:xfrm>
          <a:prstGeom prst="rect">
            <a:avLst/>
          </a:prstGeom>
          <a:solidFill>
            <a:srgbClr val="E2ECF8"/>
          </a:solidFill>
          <a:ln w="12700">
            <a:solidFill>
              <a:srgbClr val="D0DC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987552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6M+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20040" y="1645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households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IDCOL solar panels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914400"/>
            <a:ext cx="2743200" cy="1234440"/>
          </a:xfrm>
          <a:prstGeom prst="rect">
            <a:avLst/>
          </a:prstGeom>
          <a:solidFill>
            <a:srgbClr val="FEE2E2"/>
          </a:solidFill>
          <a:ln w="12700">
            <a:solidFill>
              <a:srgbClr val="D0DC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987552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246120" y="1645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loss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monsoon season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914400"/>
            <a:ext cx="2743200" cy="1234440"/>
          </a:xfrm>
          <a:prstGeom prst="rect">
            <a:avLst/>
          </a:prstGeom>
          <a:solidFill>
            <a:srgbClr val="FEE2E2"/>
          </a:solidFill>
          <a:ln w="12700">
            <a:solidFill>
              <a:srgbClr val="D0DC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72200" y="987552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70.7%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172200" y="1645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tracking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in July storms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423160"/>
            <a:ext cx="8503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5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423160"/>
            <a:ext cx="50292" cy="14173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4871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5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this happen?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2798064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panels have a 'sweet spot' voltage for maximum power. The standard controller (Perturb-and-Observe) finds this spot by trial-and-error — tiny voltage nudges back and forth. During clear weather this works fine. But during monsoon, clouds pass rapidly and the sweet spot keeps jumping. The controller is always </a:t>
            </a: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reacting to the last cloud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instead of anticipating the next one — so it wastes power.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Predict, Then 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520440"/>
          </a:xfrm>
          <a:prstGeom prst="rect">
            <a:avLst/>
          </a:prstGeom>
          <a:solidFill>
            <a:srgbClr val="FFF5F5"/>
          </a:solidFill>
          <a:ln w="12700">
            <a:solidFill>
              <a:srgbClr val="E8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686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Way — React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03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Cloud passes over panel</a:t>
            </a:r>
            <a:endParaRPr lang="en-US" sz="13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Power drops suddenly</a:t>
            </a:r>
            <a:endParaRPr lang="en-US" sz="13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Controller trial-and-errors its way back</a:t>
            </a:r>
            <a:endParaRPr lang="en-US" sz="13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Power wasted during recovery (can take seconds)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2468880"/>
            <a:ext cx="320040" cy="16459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43400" y="21945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00600" y="822960"/>
            <a:ext cx="4023360" cy="3520440"/>
          </a:xfrm>
          <a:prstGeom prst="rect">
            <a:avLst/>
          </a:prstGeom>
          <a:solidFill>
            <a:srgbClr val="E6F4ED"/>
          </a:solidFill>
          <a:ln w="12700">
            <a:solidFill>
              <a:srgbClr val="B2DE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8686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7C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Helios-Artemis — Predict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1371600"/>
            <a:ext cx="3703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Sensor reads current sky conditions</a:t>
            </a:r>
            <a:endParaRPr lang="en-US" sz="13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AI forecasts irradiance 30 min ahead</a:t>
            </a:r>
            <a:endParaRPr lang="en-US" sz="13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Controller pre-adjusts voltage reference</a:t>
            </a:r>
            <a:endParaRPr lang="en-US" sz="13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When cloud arrives — already at the right setting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Built: Two Chips, One Controller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3886200" cy="3474720"/>
          </a:xfrm>
          <a:prstGeom prst="rect">
            <a:avLst/>
          </a:prstGeom>
          <a:solidFill>
            <a:srgbClr val="E2ECF8"/>
          </a:solidFill>
          <a:ln w="12700">
            <a:solidFill>
              <a:srgbClr val="C0D4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04672"/>
            <a:ext cx="3886200" cy="475488"/>
          </a:xfrm>
          <a:prstGeom prst="rect">
            <a:avLst/>
          </a:prstGeom>
          <a:solidFill>
            <a:srgbClr val="1A56A0"/>
          </a:solidFill>
          <a:ln w="12700">
            <a:solidFill>
              <a:srgbClr val="1A5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0467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HELIOS  (ESP32-S3 chip)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389888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AI prediction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190195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at sky: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sensor + camera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414016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irradiance: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 ahead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2926080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every 100 ms: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voltage target to Artemis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438144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Self-retrains: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On-device, no internet needed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06240" y="2359152"/>
            <a:ext cx="731520" cy="10972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210312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37760" y="804672"/>
            <a:ext cx="3886200" cy="3474720"/>
          </a:xfrm>
          <a:prstGeom prst="rect">
            <a:avLst/>
          </a:prstGeom>
          <a:solidFill>
            <a:srgbClr val="E2ECF8"/>
          </a:solidFill>
          <a:ln w="12700">
            <a:solidFill>
              <a:srgbClr val="C0D4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37760" y="804672"/>
            <a:ext cx="3886200" cy="475488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80467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ARTEMIS  (STM32 chip)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74920" y="1389888"/>
            <a:ext cx="3611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MUSCLE: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real power control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74920" y="1901952"/>
            <a:ext cx="3611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50,000×/sec: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Pulses current to extract power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74920" y="2414016"/>
            <a:ext cx="3611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battery: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3-stage: bulk → absorb → float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74920" y="2926080"/>
            <a:ext cx="3611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Blends AI + logic: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(1−α)×P&amp;O + α×prediction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74920" y="3438144"/>
            <a:ext cx="3611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only: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inference here — no jitter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Component: What the LSTM Actually Does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5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0292" cy="384048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89611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5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Short-Term Memory (LSTM)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389888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type of neural network that learns patterns in sequences over time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Like how you can tell a storm is coming from an hour of darkening sky — not just the last second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Trained on 1 year of synthetic Sylhet irradiance data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Predicts irradiance 30 minutes ahead with R²=0.917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Only 7,430 parameters — tiny enough to run on a microchip in under 12 milliseconds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Retrains itself every 14 days using the controller's own logged data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804672"/>
            <a:ext cx="4160520" cy="384048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89611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SPECS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353312"/>
            <a:ext cx="4069080" cy="347472"/>
          </a:xfrm>
          <a:prstGeom prst="rect">
            <a:avLst/>
          </a:prstGeom>
          <a:solidFill>
            <a:srgbClr val="0D1E45"/>
          </a:solidFill>
          <a:ln w="12700">
            <a:solidFill>
              <a:srgbClr val="1323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35331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B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75120" y="13533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32-unit LSTM, 1 layer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09160" y="1755648"/>
            <a:ext cx="4069080" cy="347472"/>
          </a:xfrm>
          <a:prstGeom prst="rect">
            <a:avLst/>
          </a:prstGeom>
          <a:solidFill>
            <a:srgbClr val="132355"/>
          </a:solidFill>
          <a:ln w="12700">
            <a:solidFill>
              <a:srgbClr val="1323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75564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B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75120" y="175564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 of irradiance history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09160" y="2157984"/>
            <a:ext cx="4069080" cy="347472"/>
          </a:xfrm>
          <a:prstGeom prst="rect">
            <a:avLst/>
          </a:prstGeom>
          <a:solidFill>
            <a:srgbClr val="0D1E45"/>
          </a:solidFill>
          <a:ln w="12700">
            <a:solidFill>
              <a:srgbClr val="1323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15798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B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75120" y="21579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GHI in 30 minutes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09160" y="2560320"/>
            <a:ext cx="4069080" cy="347472"/>
          </a:xfrm>
          <a:prstGeom prst="rect">
            <a:avLst/>
          </a:prstGeom>
          <a:solidFill>
            <a:srgbClr val="132355"/>
          </a:solidFill>
          <a:ln w="12700">
            <a:solidFill>
              <a:srgbClr val="1323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5603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B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75120" y="25603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7,430 total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09160" y="2962656"/>
            <a:ext cx="4069080" cy="347472"/>
          </a:xfrm>
          <a:prstGeom prst="rect">
            <a:avLst/>
          </a:prstGeom>
          <a:solidFill>
            <a:srgbClr val="0D1E45"/>
          </a:solidFill>
          <a:ln w="12700">
            <a:solidFill>
              <a:srgbClr val="1323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962656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B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(R²)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75120" y="2962656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0.917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709160" y="3364992"/>
            <a:ext cx="4069080" cy="347472"/>
          </a:xfrm>
          <a:prstGeom prst="rect">
            <a:avLst/>
          </a:prstGeom>
          <a:solidFill>
            <a:srgbClr val="132355"/>
          </a:solidFill>
          <a:ln w="12700">
            <a:solidFill>
              <a:srgbClr val="1323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36499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B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(MAE)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75120" y="336499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 W/m² daytime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09160" y="3767328"/>
            <a:ext cx="4069080" cy="347472"/>
          </a:xfrm>
          <a:prstGeom prst="rect">
            <a:avLst/>
          </a:prstGeom>
          <a:solidFill>
            <a:srgbClr val="0D1E45"/>
          </a:solidFill>
          <a:ln w="12700">
            <a:solidFill>
              <a:srgbClr val="1323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76732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B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time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675120" y="376732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12 ms on the ESP32-S3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709160" y="4169664"/>
            <a:ext cx="4069080" cy="347472"/>
          </a:xfrm>
          <a:prstGeom prst="rect">
            <a:avLst/>
          </a:prstGeom>
          <a:solidFill>
            <a:srgbClr val="132355"/>
          </a:solidFill>
          <a:ln w="12700">
            <a:solidFill>
              <a:srgbClr val="1323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416966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B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75120" y="416966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14 days, no internet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Method: Why Simulation?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572768"/>
            <a:ext cx="411480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5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572768"/>
            <a:ext cx="50292" cy="269748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642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5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simulate first?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084832"/>
            <a:ext cx="3749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hardware in Sylhet takes months (PCB fab, procurement, field site)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allows testing 30+ different days, 200 Monte Carlo runs, dozens of parameter sweeps — impossible and expensive in hardware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simulation is built from NASA and SREDA real climate data for Sylhet — not arbitrary values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1572768"/>
            <a:ext cx="411480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5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572768"/>
            <a:ext cx="50292" cy="269748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6642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5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realistic is the simulation?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084832"/>
            <a:ext cx="3749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patterns from real Sylhet climate records (NASA POWER + SREDA)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 cloud flicker modelled mathematically (calibrated from peer-reviewed measurements)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dust on panels, sensor noise, haze — not ideal clean conditions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P&amp;O efficiency (86.8%) matches field data from Hossain et al. within 1.8%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0040" y="4370832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E7C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simulation is more severe than real field conditions — so the performance gains reported are a conservative lower bound.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640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E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Monte Carlo simulation — Sylhet July monsoon conditions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2011680" cy="1417320"/>
          </a:xfrm>
          <a:prstGeom prst="rect">
            <a:avLst/>
          </a:prstGeom>
          <a:solidFill>
            <a:srgbClr val="0D3F7A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430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20040" y="187452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B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(Helios-Artemis)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14600" y="1097280"/>
            <a:ext cx="2011680" cy="1417320"/>
          </a:xfrm>
          <a:prstGeom prst="rect">
            <a:avLst/>
          </a:prstGeom>
          <a:solidFill>
            <a:srgbClr val="0F4F2E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4600" y="11430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+23.3 pp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514600" y="187452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over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B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P&amp;O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97280"/>
            <a:ext cx="2011680" cy="1417320"/>
          </a:xfrm>
          <a:prstGeom prst="rect">
            <a:avLst/>
          </a:prstGeom>
          <a:solidFill>
            <a:srgbClr val="4A2800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1430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0.917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7452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forecast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B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(R²)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03720" y="1097280"/>
            <a:ext cx="2011680" cy="1417320"/>
          </a:xfrm>
          <a:prstGeom prst="rect">
            <a:avLst/>
          </a:prstGeom>
          <a:solidFill>
            <a:srgbClr val="3D1A00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1430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 BDT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903720" y="187452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cost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B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(USD ~14)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651760"/>
          <a:ext cx="8503920" cy="192024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E8A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E8A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Sky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E8A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Monsoon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E8A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P&amp;O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Variable-Step P&amp;O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Cond.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E8A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 Helios-Artemis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7EFF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7EFF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7EFF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Real-World Impact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5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50292" cy="379476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5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Comparison</a:t>
            </a:r>
            <a:endParaRPr lang="en-US" sz="14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365760" y="1325880"/>
          <a:ext cx="38862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365760" y="39502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7C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cheaper than commercial alternatives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17720" y="822960"/>
            <a:ext cx="4206240" cy="804672"/>
          </a:xfrm>
          <a:prstGeom prst="rect">
            <a:avLst/>
          </a:prstGeom>
          <a:solidFill>
            <a:srgbClr val="E2ECF8"/>
          </a:solidFill>
          <a:ln w="12700">
            <a:solidFill>
              <a:srgbClr val="D0DC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8686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 Million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754880" y="12344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could benefit from this upgrade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17720" y="1737360"/>
            <a:ext cx="4206240" cy="804672"/>
          </a:xfrm>
          <a:prstGeom prst="rect">
            <a:avLst/>
          </a:prstGeom>
          <a:solidFill>
            <a:srgbClr val="E6F4ED"/>
          </a:solidFill>
          <a:ln w="12700">
            <a:solidFill>
              <a:srgbClr val="D0DC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54880" y="1783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 kWh/yr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754880" y="21488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energy per 50W panel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617720" y="2651760"/>
            <a:ext cx="4206240" cy="804672"/>
          </a:xfrm>
          <a:prstGeom prst="rect">
            <a:avLst/>
          </a:prstGeom>
          <a:solidFill>
            <a:srgbClr val="E2ECF8"/>
          </a:solidFill>
          <a:ln w="12700">
            <a:solidFill>
              <a:srgbClr val="D0DC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54880" y="26974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years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754880" y="3063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 (vs plain P&amp;O baseline)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3566160"/>
            <a:ext cx="4206240" cy="804672"/>
          </a:xfrm>
          <a:prstGeom prst="rect">
            <a:avLst/>
          </a:prstGeom>
          <a:solidFill>
            <a:srgbClr val="E6F4ED"/>
          </a:solidFill>
          <a:ln w="12700">
            <a:solidFill>
              <a:srgbClr val="D0DC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54880" y="3611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internet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4754880" y="39776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— fully offline operation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 &amp; Next Steps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069080" cy="3794760"/>
          </a:xfrm>
          <a:prstGeom prst="rect">
            <a:avLst/>
          </a:prstGeom>
          <a:solidFill>
            <a:srgbClr val="FEE2E2"/>
          </a:solidFill>
          <a:ln w="12700">
            <a:solidFill>
              <a:srgbClr val="F5C0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96112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Current Limitations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come from simulation — no real hardware built yet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AI's 30-min forecast has a margin of error (~50 W/m²)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is conservative but not validated with real Sylhet sensors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degradation and long-term reliability not yet modelled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804672"/>
            <a:ext cx="4069080" cy="3794760"/>
          </a:xfrm>
          <a:prstGeom prst="rect">
            <a:avLst/>
          </a:prstGeom>
          <a:solidFill>
            <a:srgbClr val="E6F4ED"/>
          </a:solidFill>
          <a:ln w="12700">
            <a:solidFill>
              <a:srgbClr val="B2DE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896112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7C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Immediate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846320" y="1389888"/>
            <a:ext cx="685800" cy="347472"/>
          </a:xfrm>
          <a:prstGeom prst="rect">
            <a:avLst/>
          </a:prstGeom>
          <a:solidFill>
            <a:srgbClr val="1E7C4B"/>
          </a:solidFill>
          <a:ln w="12700">
            <a:solidFill>
              <a:srgbClr val="1E7C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38988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23560" y="1389888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hardware prototype in Sylhet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846320" y="2139696"/>
            <a:ext cx="685800" cy="347472"/>
          </a:xfrm>
          <a:prstGeom prst="rect">
            <a:avLst/>
          </a:prstGeom>
          <a:solidFill>
            <a:srgbClr val="1E7C4B"/>
          </a:solidFill>
          <a:ln w="12700">
            <a:solidFill>
              <a:srgbClr val="1E7C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13969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23560" y="2139696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simulated vs real efficiency under identical conditions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46320" y="2889504"/>
            <a:ext cx="685800" cy="347472"/>
          </a:xfrm>
          <a:prstGeom prst="rect">
            <a:avLst/>
          </a:prstGeom>
          <a:solidFill>
            <a:srgbClr val="1E7C4B"/>
          </a:solidFill>
          <a:ln w="12700">
            <a:solidFill>
              <a:srgbClr val="1E7C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88950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MOSFET upgrade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23560" y="2889504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IRFZ44N with IRFB4110 (86% less heat loss)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46320" y="3639312"/>
            <a:ext cx="685800" cy="347472"/>
          </a:xfrm>
          <a:prstGeom prst="rect">
            <a:avLst/>
          </a:prstGeom>
          <a:solidFill>
            <a:srgbClr val="1E7C4B"/>
          </a:solidFill>
          <a:ln w="12700">
            <a:solidFill>
              <a:srgbClr val="1E7C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363931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sub.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23560" y="3639312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MDPI Energies, after hardware validation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868680"/>
          </a:xfrm>
          <a:prstGeom prst="rect">
            <a:avLst/>
          </a:prstGeom>
          <a:solidFill>
            <a:srgbClr val="0D2050"/>
          </a:solidFill>
          <a:ln w="12700">
            <a:solidFill>
              <a:srgbClr val="1E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68680"/>
            <a:ext cx="1417320" cy="868680"/>
          </a:xfrm>
          <a:prstGeom prst="rect">
            <a:avLst/>
          </a:prstGeom>
          <a:solidFill>
            <a:srgbClr val="4B9FE1">
              <a:alpha val="70000"/>
            </a:srgbClr>
          </a:solidFill>
          <a:ln w="12700">
            <a:solidFill>
              <a:srgbClr val="4B9FE1">
                <a:alpha val="7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68680"/>
            <a:ext cx="132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874520" y="941832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6M+ Bangladeshi rural homes lose 15% of solar energy every monsoon because standard controllers can't keep up with fast-moving clouds.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874520"/>
            <a:ext cx="8503920" cy="868680"/>
          </a:xfrm>
          <a:prstGeom prst="rect">
            <a:avLst/>
          </a:prstGeom>
          <a:solidFill>
            <a:srgbClr val="0A1840"/>
          </a:solidFill>
          <a:ln w="12700">
            <a:solidFill>
              <a:srgbClr val="1E3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874520"/>
            <a:ext cx="1417320" cy="868680"/>
          </a:xfrm>
          <a:prstGeom prst="rect">
            <a:avLst/>
          </a:prstGeom>
          <a:solidFill>
            <a:srgbClr val="4B9FE1">
              <a:alpha val="70000"/>
            </a:srgbClr>
          </a:solidFill>
          <a:ln w="12700">
            <a:solidFill>
              <a:srgbClr val="4B9F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874520"/>
            <a:ext cx="132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74520" y="1947672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Helios-Artemis uses a small AI (LSTM) on an ESP32 chip to predict irradiance 30 min ahead, letting the controller pre-adjust instead of react.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" y="2880360"/>
            <a:ext cx="8503920" cy="868680"/>
          </a:xfrm>
          <a:prstGeom prst="rect">
            <a:avLst/>
          </a:prstGeom>
          <a:solidFill>
            <a:srgbClr val="0D2050"/>
          </a:solidFill>
          <a:ln w="12700">
            <a:solidFill>
              <a:srgbClr val="1E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880360"/>
            <a:ext cx="1417320" cy="868680"/>
          </a:xfrm>
          <a:prstGeom prst="rect">
            <a:avLst/>
          </a:prstGeom>
          <a:solidFill>
            <a:srgbClr val="4B9FE1">
              <a:alpha val="70000"/>
            </a:srgbClr>
          </a:solidFill>
          <a:ln w="12700">
            <a:solidFill>
              <a:srgbClr val="4B9FE1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880360"/>
            <a:ext cx="132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874520" y="2953512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efficiency improves from 70.7% to 94.0% — a +23.3 pp gain. Controller costs ~1,500 BDT, 89% below commercial alternatives.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3886200"/>
            <a:ext cx="8503920" cy="868680"/>
          </a:xfrm>
          <a:prstGeom prst="rect">
            <a:avLst/>
          </a:prstGeom>
          <a:solidFill>
            <a:srgbClr val="0A1840"/>
          </a:solidFill>
          <a:ln w="12700">
            <a:solidFill>
              <a:srgbClr val="1E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3886200"/>
            <a:ext cx="1417320" cy="868680"/>
          </a:xfrm>
          <a:prstGeom prst="rect">
            <a:avLst/>
          </a:prstGeom>
          <a:solidFill>
            <a:srgbClr val="4B9FE1">
              <a:alpha val="70000"/>
            </a:srgbClr>
          </a:solidFill>
          <a:ln w="12700">
            <a:solidFill>
              <a:srgbClr val="4B9FE1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886200"/>
            <a:ext cx="132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874520" y="3959352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simulation results. Hardware prototype and field trial in Sylhet is the confirmed next step (Q3 2026).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" y="4773168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 welcome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976</Words>
  <Application>Microsoft Office PowerPoint</Application>
  <PresentationFormat>On-screen Show (16:9)</PresentationFormat>
  <Paragraphs>168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Helios-Artemis: Predictive Solar MPPT</dc:title>
  <dc:subject>PptxGenJS Presentation</dc:subject>
  <dc:creator>Hussain Touhid Siddiquee</dc:creator>
  <cp:lastModifiedBy>mourymarjana@gmail.com</cp:lastModifiedBy>
  <cp:revision>2</cp:revision>
  <dcterms:created xsi:type="dcterms:W3CDTF">2026-05-18T08:38:49Z</dcterms:created>
  <dcterms:modified xsi:type="dcterms:W3CDTF">2026-05-18T15:27:54Z</dcterms:modified>
</cp:coreProperties>
</file>