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(BDT)</c:v>
                </c:pt>
              </c:strCache>
            </c:strRef>
          </c:tx>
          <c:spPr>
            <a:solidFill>
              <a:srgbClr val="D0D8E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6E-4FFB-A68B-6651F5A2C66F}"/>
              </c:ext>
            </c:extLst>
          </c:dPt>
          <c:dPt>
            <c:idx val="1"/>
            <c:invertIfNegative val="0"/>
            <c:bubble3D val="0"/>
            <c:spPr>
              <a:solidFill>
                <a:srgbClr val="4B9F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6E-4FFB-A68B-6651F5A2C66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F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Commercial MPPT
Controller</c:v>
                </c:pt>
                <c:pt idx="1">
                  <c:v>Helios-Artemis
(this work)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13500</c:v>
                </c:pt>
                <c:pt idx="1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6E-4FFB-A68B-6651F5A2C6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0"/>
        </c:scaling>
        <c:delete val="0"/>
        <c:axPos val="l"/>
        <c:majorGridlines>
          <c:spPr>
            <a:ln w="6350" cap="flat">
              <a:solidFill>
                <a:srgbClr val="E2EC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930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64592" y="1737360"/>
            <a:ext cx="8979408" cy="16916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Helios-Artemis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D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Solar Controller for Rural Bangladesh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Hussain Touhid Siddiquee  ·  Dept. EEE, Leading University Sylhet  · 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0" y="365760"/>
            <a:ext cx="1463040" cy="1463040"/>
          </a:xfrm>
          <a:prstGeom prst="ellipse">
            <a:avLst/>
          </a:prstGeom>
          <a:solidFill>
            <a:srgbClr val="E8A020">
              <a:alpha val="20000"/>
            </a:srgbClr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0" y="548640"/>
            <a:ext cx="1097280" cy="1097280"/>
          </a:xfrm>
          <a:prstGeom prst="ellipse">
            <a:avLst/>
          </a:prstGeom>
          <a:solidFill>
            <a:srgbClr val="E8A020">
              <a:alpha val="50000"/>
            </a:srgbClr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Solar Power Wasted in Bangladesh Monsoon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1234440"/>
          </a:xfrm>
          <a:prstGeom prst="rect">
            <a:avLst/>
          </a:prstGeom>
          <a:solidFill>
            <a:srgbClr val="E2ECF8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9875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households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IDCOL solar panels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43200" cy="1234440"/>
          </a:xfrm>
          <a:prstGeom prst="rect">
            <a:avLst/>
          </a:prstGeom>
          <a:solidFill>
            <a:srgbClr val="FEE2E2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46120" y="9875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loss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monsoon season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914400"/>
            <a:ext cx="2743200" cy="1234440"/>
          </a:xfrm>
          <a:prstGeom prst="rect">
            <a:avLst/>
          </a:prstGeom>
          <a:solidFill>
            <a:srgbClr val="FEE2E2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9875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7220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tracking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in July storms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2423160"/>
            <a:ext cx="50292" cy="1417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2487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happen?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79806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panels have a 'sweet spot' voltage for maximum power. The standard controller (Perturb-and-Observe) finds this spot by trial-and-error — tiny voltage nudges back and forth. During clear weather this works fine. But during monsoon, clouds pass rapidly and the sweet spot keeps jumping. The controller is always </a:t>
            </a: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reacting to the last cloud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anticipating the next one — so it wastes power.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Predict, Then 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3520440"/>
          </a:xfrm>
          <a:prstGeom prst="rect">
            <a:avLst/>
          </a:prstGeom>
          <a:solidFill>
            <a:srgbClr val="FFF5F5"/>
          </a:solidFill>
          <a:ln w="12700">
            <a:solidFill>
              <a:srgbClr val="E8CCC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 — React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passes over panel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Power drops suddenly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Controller trial-and-errors its way back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Power wasted during recovery (can take seconds)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468880"/>
            <a:ext cx="320040" cy="1645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43400" y="21945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4023360" cy="3520440"/>
          </a:xfrm>
          <a:prstGeom prst="rect">
            <a:avLst/>
          </a:prstGeom>
          <a:solidFill>
            <a:srgbClr val="E6F4ED"/>
          </a:solidFill>
          <a:ln w="12700">
            <a:solidFill>
              <a:srgbClr val="B2DEC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Helios-Artemis — Predict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371600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Sensor reads current sky conditions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forecasts irradiance 30 min ahead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Controller pre-adjusts voltage reference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When cloud arrives — already at the right setting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Built: Two Chips, One Controller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886200" cy="3474720"/>
          </a:xfrm>
          <a:prstGeom prst="rect">
            <a:avLst/>
          </a:prstGeom>
          <a:solidFill>
            <a:srgbClr val="E2ECF8"/>
          </a:solidFill>
          <a:ln w="12700">
            <a:solidFill>
              <a:srgbClr val="C0D4E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804672"/>
            <a:ext cx="3886200" cy="47548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11480" y="8046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HELIOS  (ESP32-S3 chip)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AI prediction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sky: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sensor + camera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41401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irradiance: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ahead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100 ms: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voltage target to Artemis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43814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Self-retrains: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On-device, no internet needed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06240" y="2359152"/>
            <a:ext cx="73152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60520" y="21031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37760" y="804672"/>
            <a:ext cx="3886200" cy="3474720"/>
          </a:xfrm>
          <a:prstGeom prst="rect">
            <a:avLst/>
          </a:prstGeom>
          <a:solidFill>
            <a:srgbClr val="E2ECF8"/>
          </a:solidFill>
          <a:ln w="12700">
            <a:solidFill>
              <a:srgbClr val="C0D4E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937760" y="804672"/>
            <a:ext cx="3886200" cy="47548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8046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ARTEMIS  (STM32 chip)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1389888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MUSCLE: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real power control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74920" y="1901952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50,000×/sec: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 current to extract power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74920" y="2414016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battery: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3-stage: bulk → absorb → float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74920" y="2926080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AI + logic: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(1−α)×P&amp;O + α×prediction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74920" y="3438144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only: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inference here — no jitter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Component: What the LSTM Actually Does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804672"/>
            <a:ext cx="50292" cy="3840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896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 (LSTM)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type of neural network that learns patterns in sequences over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Like how you can tell a storm is coming from an hour of darkening sky — not just the last second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Trained on 1 year of synthetic Sylhet irradiance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Predicts irradiance 30 minutes ahead with R²=0.917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Only 4,486 parameters — tiny enough to run on a microchip in under 12 milliseconds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Retrains itself every 14 days using the controller's own logged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38404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54880" y="8961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53312"/>
            <a:ext cx="4069080" cy="347472"/>
          </a:xfrm>
          <a:prstGeom prst="rect">
            <a:avLst/>
          </a:prstGeom>
          <a:solidFill>
            <a:srgbClr val="0D1E45"/>
          </a:solidFill>
          <a:ln w="12700">
            <a:solidFill>
              <a:srgbClr val="13235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00600" y="1353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75120" y="13533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32-unit LSTM, 1 layer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755648"/>
            <a:ext cx="4069080" cy="347472"/>
          </a:xfrm>
          <a:prstGeom prst="rect">
            <a:avLst/>
          </a:prstGeom>
          <a:solidFill>
            <a:srgbClr val="132355"/>
          </a:solidFill>
          <a:ln w="12700">
            <a:solidFill>
              <a:srgbClr val="13235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00600" y="1755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1755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 of irradiance history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157984"/>
            <a:ext cx="4069080" cy="347472"/>
          </a:xfrm>
          <a:prstGeom prst="rect">
            <a:avLst/>
          </a:prstGeom>
          <a:solidFill>
            <a:srgbClr val="0D1E45"/>
          </a:solidFill>
          <a:ln w="12700">
            <a:solidFill>
              <a:srgbClr val="13235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00600" y="21579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0" y="21579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GHI in 30 minutes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069080" cy="347472"/>
          </a:xfrm>
          <a:prstGeom prst="rect">
            <a:avLst/>
          </a:prstGeom>
          <a:solidFill>
            <a:srgbClr val="132355"/>
          </a:solidFill>
          <a:ln w="12700">
            <a:solidFill>
              <a:srgbClr val="13235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00600" y="2560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2560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4,486 total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962656"/>
            <a:ext cx="4069080" cy="347472"/>
          </a:xfrm>
          <a:prstGeom prst="rect">
            <a:avLst/>
          </a:prstGeom>
          <a:solidFill>
            <a:srgbClr val="0D1E45"/>
          </a:solidFill>
          <a:ln w="12700">
            <a:solidFill>
              <a:srgbClr val="13235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00600" y="2962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(R²)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0" y="29626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3364992"/>
            <a:ext cx="4069080" cy="347472"/>
          </a:xfrm>
          <a:prstGeom prst="rect">
            <a:avLst/>
          </a:prstGeom>
          <a:solidFill>
            <a:srgbClr val="132355"/>
          </a:solidFill>
          <a:ln w="12700">
            <a:solidFill>
              <a:srgbClr val="13235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00600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(MAE)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75120" y="33649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 W/m² daytime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3767328"/>
            <a:ext cx="4069080" cy="347472"/>
          </a:xfrm>
          <a:prstGeom prst="rect">
            <a:avLst/>
          </a:prstGeom>
          <a:solidFill>
            <a:srgbClr val="0D1E45"/>
          </a:solidFill>
          <a:ln w="12700">
            <a:solidFill>
              <a:srgbClr val="13235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800600" y="3767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75120" y="37673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 ms on the ESP32-S3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4169664"/>
            <a:ext cx="4069080" cy="347472"/>
          </a:xfrm>
          <a:prstGeom prst="rect">
            <a:avLst/>
          </a:prstGeom>
          <a:solidFill>
            <a:srgbClr val="132355"/>
          </a:solidFill>
          <a:ln w="12700">
            <a:solidFill>
              <a:srgbClr val="13235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00600" y="41696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75120" y="41696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14 days, no internet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Method: Why Simulation?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0040" y="1572768"/>
            <a:ext cx="50292" cy="2697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64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simulate first?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hardware in Sylhet takes months (PCB fab, procurement, field site)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allows testing 30+ different days, 200 Monte Carlo runs, dozens of parameter sweeps — impossible and expensive in hardware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is built from NASA and SREDA real climate data for Sylhet — not arbitrary values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572768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09160" y="1572768"/>
            <a:ext cx="50292" cy="2697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37760" y="1664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realistic is the simulation?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84832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patterns from real Sylhet climate records (NASA POWER + SREDA)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cloud flicker modelled mathematically (calibrated from peer-reviewed measurements)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dust on panels, sensor noise, haze — not ideal clean conditions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P&amp;O efficiency (86.8%) matches field data from Hossain et al. within 1.8%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37083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7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is more severe than real field conditions — so the performance gains reported are a conservative lower bound.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Monte Carlo simulation — Sylhet July monsoon conditions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011680" cy="1417320"/>
          </a:xfrm>
          <a:prstGeom prst="rect">
            <a:avLst/>
          </a:prstGeom>
          <a:solidFill>
            <a:srgbClr val="0D3F7A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(Helios-Artemis)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2011680" cy="1417320"/>
          </a:xfrm>
          <a:prstGeom prst="rect">
            <a:avLst/>
          </a:prstGeom>
          <a:solidFill>
            <a:srgbClr val="0F4F2E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1460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+23.3 pp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18745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P&amp;O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2011680" cy="1417320"/>
          </a:xfrm>
          <a:prstGeom prst="rect">
            <a:avLst/>
          </a:prstGeom>
          <a:solidFill>
            <a:srgbClr val="4A28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916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09160" y="18745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(R²)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2011680" cy="1417320"/>
          </a:xfrm>
          <a:prstGeom prst="rect">
            <a:avLst/>
          </a:prstGeom>
          <a:solidFill>
            <a:srgbClr val="3D1A0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0372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BDT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03720" y="18745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 ~14)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51760"/>
          <a:ext cx="8503920" cy="19202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Sky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Monsoon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P&amp;O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Variable-Step P&amp;O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Cond.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Helios-Artemis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7EF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7EF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7EFF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Real-World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822960"/>
            <a:ext cx="50292" cy="3794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325880"/>
          <a:ext cx="3886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39502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cheaper than commercial alternatives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822960"/>
            <a:ext cx="4206240" cy="804672"/>
          </a:xfrm>
          <a:prstGeom prst="rect">
            <a:avLst/>
          </a:prstGeom>
          <a:solidFill>
            <a:srgbClr val="E2ECF8"/>
          </a:solidFill>
          <a:ln w="12700">
            <a:solidFill>
              <a:srgbClr val="D0DCF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Million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could benefit from this upgrade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17720" y="1737360"/>
            <a:ext cx="4206240" cy="804672"/>
          </a:xfrm>
          <a:prstGeom prst="rect">
            <a:avLst/>
          </a:prstGeom>
          <a:solidFill>
            <a:srgbClr val="E6F4ED"/>
          </a:solidFill>
          <a:ln w="12700">
            <a:solidFill>
              <a:srgbClr val="D0DCF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75488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 kWh/yr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75488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energy per 50W panel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17720" y="2651760"/>
            <a:ext cx="4206240" cy="804672"/>
          </a:xfrm>
          <a:prstGeom prst="rect">
            <a:avLst/>
          </a:prstGeom>
          <a:solidFill>
            <a:srgbClr val="E2ECF8"/>
          </a:solidFill>
          <a:ln w="12700">
            <a:solidFill>
              <a:srgbClr val="D0DC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75488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years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75488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 (vs plain P&amp;O baseline)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17720" y="3566160"/>
            <a:ext cx="4206240" cy="804672"/>
          </a:xfrm>
          <a:prstGeom prst="rect">
            <a:avLst/>
          </a:prstGeom>
          <a:solidFill>
            <a:srgbClr val="E6F4ED"/>
          </a:solidFill>
          <a:ln w="12700">
            <a:solidFill>
              <a:srgbClr val="D0DCF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75488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internet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754880" y="3977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fully offline operation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069080" cy="3794760"/>
          </a:xfrm>
          <a:prstGeom prst="rect">
            <a:avLst/>
          </a:prstGeom>
          <a:solidFill>
            <a:srgbClr val="FEE2E2"/>
          </a:solidFill>
          <a:ln w="12700">
            <a:solidFill>
              <a:srgbClr val="F5C0C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89611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come from simulation — no real hardware built yet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AI's 30-min forecast has a margin of error (~50 W/m²)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is conservative but not validated with real Sylhet sensors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degradation and long-term reliability not yet modelled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069080" cy="3794760"/>
          </a:xfrm>
          <a:prstGeom prst="rect">
            <a:avLst/>
          </a:prstGeom>
          <a:solidFill>
            <a:srgbClr val="E6F4ED"/>
          </a:solidFill>
          <a:ln w="12700">
            <a:solidFill>
              <a:srgbClr val="B2DEC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92040" y="89611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Immediate Next Steps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1389888"/>
            <a:ext cx="685800" cy="347472"/>
          </a:xfrm>
          <a:prstGeom prst="rect">
            <a:avLst/>
          </a:prstGeom>
          <a:solidFill>
            <a:srgbClr val="1E7C4B"/>
          </a:solidFill>
          <a:ln w="12700">
            <a:solidFill>
              <a:srgbClr val="1E7C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46320" y="138988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3898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hardware prototype in Sylhet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2139696"/>
            <a:ext cx="685800" cy="347472"/>
          </a:xfrm>
          <a:prstGeom prst="rect">
            <a:avLst/>
          </a:prstGeom>
          <a:solidFill>
            <a:srgbClr val="1E7C4B"/>
          </a:solidFill>
          <a:ln w="12700">
            <a:solidFill>
              <a:srgbClr val="1E7C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213969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21396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simulated vs real efficiency under identical conditions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2889504"/>
            <a:ext cx="685800" cy="347472"/>
          </a:xfrm>
          <a:prstGeom prst="rect">
            <a:avLst/>
          </a:prstGeom>
          <a:solidFill>
            <a:srgbClr val="1E7C4B"/>
          </a:solidFill>
          <a:ln w="12700">
            <a:solidFill>
              <a:srgbClr val="1E7C4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46320" y="288950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 upgrade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288950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IRFB4110 MOSFET (86% less heat loss)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3639312"/>
            <a:ext cx="685800" cy="347472"/>
          </a:xfrm>
          <a:prstGeom prst="rect">
            <a:avLst/>
          </a:prstGeom>
          <a:solidFill>
            <a:srgbClr val="1E7C4B"/>
          </a:solidFill>
          <a:ln w="12700">
            <a:solidFill>
              <a:srgbClr val="1E7C4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46320" y="363931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sub.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36393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 Energies, after hardware validation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868680"/>
          </a:xfrm>
          <a:prstGeom prst="rect">
            <a:avLst/>
          </a:prstGeom>
          <a:solidFill>
            <a:srgbClr val="0D2050"/>
          </a:solidFill>
          <a:ln w="12700">
            <a:solidFill>
              <a:srgbClr val="1E3A6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868680"/>
            <a:ext cx="1417320" cy="868680"/>
          </a:xfrm>
          <a:prstGeom prst="rect">
            <a:avLst/>
          </a:prstGeom>
          <a:solidFill>
            <a:srgbClr val="4B9FE1">
              <a:alpha val="70000"/>
            </a:srgbClr>
          </a:solidFill>
          <a:ln w="12700">
            <a:solidFill>
              <a:srgbClr val="4B9F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86868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94183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6M+ Bangladeshi rural homes lose 15% of solar energy every monsoon because standard controllers can't keep up with fast-moving clouds.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8503920" cy="868680"/>
          </a:xfrm>
          <a:prstGeom prst="rect">
            <a:avLst/>
          </a:prstGeom>
          <a:solidFill>
            <a:srgbClr val="0A1840"/>
          </a:solidFill>
          <a:ln w="12700">
            <a:solidFill>
              <a:srgbClr val="1E3A6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" y="1874520"/>
            <a:ext cx="1417320" cy="868680"/>
          </a:xfrm>
          <a:prstGeom prst="rect">
            <a:avLst/>
          </a:prstGeom>
          <a:solidFill>
            <a:srgbClr val="4B9FE1">
              <a:alpha val="70000"/>
            </a:srgbClr>
          </a:solidFill>
          <a:ln w="12700">
            <a:solidFill>
              <a:srgbClr val="4B9F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187452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74520" y="194767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Helios-Artemis uses a small AI (LSTM) on an ESP32 chip to predict irradiance 30 min ahead, letting the controller pre-adjust instead of react.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8503920" cy="868680"/>
          </a:xfrm>
          <a:prstGeom prst="rect">
            <a:avLst/>
          </a:prstGeom>
          <a:solidFill>
            <a:srgbClr val="0D2050"/>
          </a:solidFill>
          <a:ln w="12700">
            <a:solidFill>
              <a:srgbClr val="1E3A6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0040" y="2880360"/>
            <a:ext cx="1417320" cy="868680"/>
          </a:xfrm>
          <a:prstGeom prst="rect">
            <a:avLst/>
          </a:prstGeom>
          <a:solidFill>
            <a:srgbClr val="4B9FE1">
              <a:alpha val="70000"/>
            </a:srgbClr>
          </a:solidFill>
          <a:ln w="12700">
            <a:solidFill>
              <a:srgbClr val="4B9F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288036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74520" y="295351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efficiency improves from 70.7% to 94.0% — a +23.3 pp gain. Controller costs ~1,500 BDT, 89% below commercial alternatives.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0A1840"/>
          </a:solidFill>
          <a:ln w="12700">
            <a:solidFill>
              <a:srgbClr val="1E3A6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0040" y="3886200"/>
            <a:ext cx="1417320" cy="868680"/>
          </a:xfrm>
          <a:prstGeom prst="rect">
            <a:avLst/>
          </a:prstGeom>
          <a:solidFill>
            <a:srgbClr val="4B9FE1">
              <a:alpha val="70000"/>
            </a:srgbClr>
          </a:solidFill>
          <a:ln w="12700">
            <a:solidFill>
              <a:srgbClr val="4B9FE1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" y="38862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74520" y="395935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simulation results. Hardware prototype and field trial in Sylhet is the confirmed next step (Q3 2026).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976</Words>
  <Application>Microsoft Office PowerPoint</Application>
  <PresentationFormat>On-screen Show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Helios-Artemis: Predictive Solar MPPT</dc:title>
  <dc:subject>PptxGenJS Presentation</dc:subject>
  <dc:creator>Hussain Touhid Siddiquee</dc:creator>
  <cp:lastModifiedBy>mourymarjana@gmail.com</cp:lastModifiedBy>
  <cp:revision>2</cp:revision>
  <dcterms:created xsi:type="dcterms:W3CDTF">2026-05-18T08:38:49Z</dcterms:created>
  <dcterms:modified xsi:type="dcterms:W3CDTF">2026-05-18T15:27:54Z</dcterms:modified>
</cp:coreProperties>
</file>